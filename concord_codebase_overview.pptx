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32520" y="0"/>
            <a:ext cx="411480" cy="51435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62235"/>
          </a:solidFill>
          <a:ln w="12700">
            <a:solidFill>
              <a:srgbClr val="1622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73152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spc="1200" kern="0" dirty="0">
                <a:solidFill>
                  <a:srgbClr val="FFFFFF"/>
                </a:solidFill>
              </a:rPr>
              <a:t>CONCORD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3C5FD"/>
                </a:solidFill>
              </a:rPr>
              <a:t>Meeting Management System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0" y="2304288"/>
            <a:ext cx="27432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487168"/>
            <a:ext cx="1417320" cy="310896"/>
          </a:xfrm>
          <a:prstGeom prst="rect">
            <a:avLst/>
          </a:prstGeom>
          <a:solidFill>
            <a:srgbClr val="162A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48716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3C5FD"/>
                </a:solidFill>
              </a:rPr>
              <a:t>Real-time Collaboration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221992" y="2487168"/>
            <a:ext cx="1417320" cy="310896"/>
          </a:xfrm>
          <a:prstGeom prst="rect">
            <a:avLst/>
          </a:prstGeom>
          <a:solidFill>
            <a:srgbClr val="162A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21992" y="248716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3C5FD"/>
                </a:solidFill>
              </a:rPr>
              <a:t>AI-Powered Summaries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803904" y="2487168"/>
            <a:ext cx="1417320" cy="310896"/>
          </a:xfrm>
          <a:prstGeom prst="rect">
            <a:avLst/>
          </a:prstGeom>
          <a:solidFill>
            <a:srgbClr val="162A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03904" y="248716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3C5FD"/>
                </a:solidFill>
              </a:rPr>
              <a:t>Live Transcription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5385816" y="2487168"/>
            <a:ext cx="1417320" cy="310896"/>
          </a:xfrm>
          <a:prstGeom prst="rect">
            <a:avLst/>
          </a:prstGeom>
          <a:solidFill>
            <a:srgbClr val="162A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85816" y="248716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3C5FD"/>
                </a:solidFill>
              </a:rPr>
              <a:t>Task Management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967728" y="2487168"/>
            <a:ext cx="1417320" cy="310896"/>
          </a:xfrm>
          <a:prstGeom prst="rect">
            <a:avLst/>
          </a:prstGeom>
          <a:solidFill>
            <a:srgbClr val="162A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67728" y="248716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3C5FD"/>
                </a:solidFill>
              </a:rPr>
              <a:t>Meeting Archives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40080" y="30175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Full-stack TypeScript  ·  React + Node.js  ·  MongoDB  ·  Socket.io  ·  WebRTC  ·  Deepgram AI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4400" y="3611880"/>
            <a:ext cx="1645920" cy="777240"/>
          </a:xfrm>
          <a:prstGeom prst="rect">
            <a:avLst/>
          </a:prstGeom>
          <a:solidFill>
            <a:srgbClr val="162A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6576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17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914400" y="40416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API Modules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788920" y="3611880"/>
            <a:ext cx="1645920" cy="777240"/>
          </a:xfrm>
          <a:prstGeom prst="rect">
            <a:avLst/>
          </a:prstGeom>
          <a:solidFill>
            <a:srgbClr val="162A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88920" y="36576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40+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2788920" y="40416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Server Routes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663440" y="3611880"/>
            <a:ext cx="1645920" cy="777240"/>
          </a:xfrm>
          <a:prstGeom prst="rect">
            <a:avLst/>
          </a:prstGeom>
          <a:solidFill>
            <a:srgbClr val="162A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36576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35+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4663440" y="40416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React Components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537960" y="3611880"/>
            <a:ext cx="1645920" cy="777240"/>
          </a:xfrm>
          <a:prstGeom prst="rect">
            <a:avLst/>
          </a:prstGeom>
          <a:solidFill>
            <a:srgbClr val="162A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37960" y="36576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16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6537960" y="40416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Socket Events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40080" y="4800600"/>
            <a:ext cx="786384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6A8A"/>
                </a:solidFill>
              </a:rPr>
              <a:t>Comprehensive Codebase Overview  · 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</a:rPr>
              <a:t>System Architecture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832104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804672"/>
            <a:ext cx="832104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804672"/>
            <a:ext cx="2103120" cy="6675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04672"/>
            <a:ext cx="21031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CLIENT  (React + Vite)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606040" y="877824"/>
            <a:ext cx="59893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Pages · Feature Modules · Shared Components · Hooks · Stores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07992" y="1472184"/>
            <a:ext cx="128016" cy="12801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600200"/>
            <a:ext cx="832104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1600200"/>
            <a:ext cx="2103120" cy="66751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600200"/>
            <a:ext cx="21031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REST API  (Express + Node.js)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606040" y="1673352"/>
            <a:ext cx="59893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17 Route Modules · JWT Auth Middleware · MongoDB Mongoose ORM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07992" y="2267712"/>
            <a:ext cx="128016" cy="12801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2395728"/>
            <a:ext cx="832104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2395728"/>
            <a:ext cx="2103120" cy="6675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395728"/>
            <a:ext cx="21031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REAL-TIME  (Socket.io)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606040" y="2468880"/>
            <a:ext cx="59893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WebRTC Signalling · Live Transcription · Chat · Meeting Events · Notifications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07992" y="3063240"/>
            <a:ext cx="128016" cy="12801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3191256"/>
            <a:ext cx="832104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1480" y="3191256"/>
            <a:ext cx="2103120" cy="66751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191256"/>
            <a:ext cx="21031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AI SERVICE  (External Microservice)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606040" y="3264408"/>
            <a:ext cx="59893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Meeting Summaries · Action Extraction · Agenda Summarization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07992" y="3858768"/>
            <a:ext cx="128016" cy="12801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" y="3986784"/>
            <a:ext cx="832104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11480" y="3986784"/>
            <a:ext cx="2103120" cy="66751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986784"/>
            <a:ext cx="21031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DATA  (MongoDB + Redis)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606040" y="4059936"/>
            <a:ext cx="59893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16 Collections · Text Indexes · Redis Adapter (Socket.io scaling)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11480" y="4690872"/>
            <a:ext cx="8321040" cy="2560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469087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External: Deepgram (Speech-to-Text)  ·  Jitsi (Video Rooms)  ·  MapLibre (Maps)  ·  SMTP (Email/ICS Invites)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</a:rPr>
              <a:t>Technology Stack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832104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749808"/>
            <a:ext cx="274320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4980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Frontend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216152"/>
            <a:ext cx="27432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21208" y="121615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React 18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874520" y="1216152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UI framework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11480" y="1545336"/>
            <a:ext cx="2743200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21208" y="154533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TypeScript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874520" y="1545336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Type safety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11480" y="1874520"/>
            <a:ext cx="27432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21208" y="187452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Vite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874520" y="187452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Build tool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11480" y="2203704"/>
            <a:ext cx="2743200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21208" y="220370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React Router v6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874520" y="2203704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Client routing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11480" y="2532888"/>
            <a:ext cx="27432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21208" y="253288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Socket.io-client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874520" y="2532888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Real-time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11480" y="2862072"/>
            <a:ext cx="2743200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21208" y="286207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LiveKit Client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874520" y="2862072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WebRTC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11480" y="3191256"/>
            <a:ext cx="27432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21208" y="319125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MapLibre GL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874520" y="3191256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Maps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11480" y="3520440"/>
            <a:ext cx="2743200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21208" y="35204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react-map-gl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874520" y="352044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Map component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11480" y="3849624"/>
            <a:ext cx="27432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21208" y="384962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HugeIcons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874520" y="3849624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Icon library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11480" y="4178808"/>
            <a:ext cx="2743200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21208" y="417880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chrono-node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874520" y="4178808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Date parsing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11480" y="4507992"/>
            <a:ext cx="27432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21208" y="450799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i18next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874520" y="4507992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Internationalisation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11480" y="4837176"/>
            <a:ext cx="2743200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521208" y="483717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qrcode.react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1874520" y="4837176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QR generation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227832" y="749808"/>
            <a:ext cx="274320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27832" y="74980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Backend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3227832" y="1216152"/>
            <a:ext cx="27432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3337560" y="121615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Express.js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690872" y="1216152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HTTP server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227832" y="1545336"/>
            <a:ext cx="2743200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3337560" y="154533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TypeScript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4690872" y="1545336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Type safety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3227832" y="1874520"/>
            <a:ext cx="27432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3337560" y="187452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Socket.io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4690872" y="187452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WebSockets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3227832" y="2203704"/>
            <a:ext cx="2743200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3337560" y="220370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Mongoose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4690872" y="2203704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MongoDB ODM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3227832" y="2532888"/>
            <a:ext cx="27432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3337560" y="253288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JWT + bcryptjs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4690872" y="2532888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Auth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3227832" y="2862072"/>
            <a:ext cx="2743200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3337560" y="286207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Multer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4690872" y="2862072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File uploads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3227832" y="3191256"/>
            <a:ext cx="27432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3337560" y="319125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Nodemailer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4690872" y="3191256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Email / ICS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3227832" y="3520440"/>
            <a:ext cx="2743200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3337560" y="35204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Redis adapter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4690872" y="352044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Socket scaling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3227832" y="3849624"/>
            <a:ext cx="27432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3337560" y="384962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node-cron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4690872" y="3849624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Scheduled jobs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3227832" y="4178808"/>
            <a:ext cx="2743200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2" name="Text 70"/>
          <p:cNvSpPr/>
          <p:nvPr/>
        </p:nvSpPr>
        <p:spPr>
          <a:xfrm>
            <a:off x="3337560" y="417880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QRCode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4690872" y="4178808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QR generation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3227832" y="4507992"/>
            <a:ext cx="27432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5" name="Text 73"/>
          <p:cNvSpPr/>
          <p:nvPr/>
        </p:nvSpPr>
        <p:spPr>
          <a:xfrm>
            <a:off x="3337560" y="450799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ws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4690872" y="4507992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Raw WebSocket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3227832" y="4837176"/>
            <a:ext cx="2743200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8" name="Text 76"/>
          <p:cNvSpPr/>
          <p:nvPr/>
        </p:nvSpPr>
        <p:spPr>
          <a:xfrm>
            <a:off x="3337560" y="483717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livekit-server-sdk</a:t>
            </a:r>
            <a:endParaRPr lang="en-US" sz="950" dirty="0"/>
          </a:p>
        </p:txBody>
      </p:sp>
      <p:sp>
        <p:nvSpPr>
          <p:cNvPr id="79" name="Text 77"/>
          <p:cNvSpPr/>
          <p:nvPr/>
        </p:nvSpPr>
        <p:spPr>
          <a:xfrm>
            <a:off x="4690872" y="4837176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Video rooms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6044184" y="749808"/>
            <a:ext cx="274320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044184" y="74980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Infrastructure &amp; AI</a:t>
            </a:r>
            <a:endParaRPr lang="en-US" sz="1300" dirty="0"/>
          </a:p>
        </p:txBody>
      </p:sp>
      <p:sp>
        <p:nvSpPr>
          <p:cNvPr id="82" name="Shape 80"/>
          <p:cNvSpPr/>
          <p:nvPr/>
        </p:nvSpPr>
        <p:spPr>
          <a:xfrm>
            <a:off x="6044184" y="1216152"/>
            <a:ext cx="27432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3" name="Text 81"/>
          <p:cNvSpPr/>
          <p:nvPr/>
        </p:nvSpPr>
        <p:spPr>
          <a:xfrm>
            <a:off x="6153912" y="121615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MongoDB</a:t>
            </a:r>
            <a:endParaRPr lang="en-US" sz="950" dirty="0"/>
          </a:p>
        </p:txBody>
      </p:sp>
      <p:sp>
        <p:nvSpPr>
          <p:cNvPr id="84" name="Text 82"/>
          <p:cNvSpPr/>
          <p:nvPr/>
        </p:nvSpPr>
        <p:spPr>
          <a:xfrm>
            <a:off x="7507224" y="1216152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Primary database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6044184" y="1545336"/>
            <a:ext cx="2743200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6" name="Text 84"/>
          <p:cNvSpPr/>
          <p:nvPr/>
        </p:nvSpPr>
        <p:spPr>
          <a:xfrm>
            <a:off x="6153912" y="154533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Redis</a:t>
            </a:r>
            <a:endParaRPr lang="en-US" sz="950" dirty="0"/>
          </a:p>
        </p:txBody>
      </p:sp>
      <p:sp>
        <p:nvSpPr>
          <p:cNvPr id="87" name="Text 85"/>
          <p:cNvSpPr/>
          <p:nvPr/>
        </p:nvSpPr>
        <p:spPr>
          <a:xfrm>
            <a:off x="7507224" y="1545336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Session / pub-sub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6044184" y="1874520"/>
            <a:ext cx="27432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9" name="Text 87"/>
          <p:cNvSpPr/>
          <p:nvPr/>
        </p:nvSpPr>
        <p:spPr>
          <a:xfrm>
            <a:off x="6153912" y="187452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Deepgram</a:t>
            </a:r>
            <a:endParaRPr lang="en-US" sz="950" dirty="0"/>
          </a:p>
        </p:txBody>
      </p:sp>
      <p:sp>
        <p:nvSpPr>
          <p:cNvPr id="90" name="Text 88"/>
          <p:cNvSpPr/>
          <p:nvPr/>
        </p:nvSpPr>
        <p:spPr>
          <a:xfrm>
            <a:off x="7507224" y="187452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Speech-to-Text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6044184" y="2203704"/>
            <a:ext cx="2743200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2" name="Text 90"/>
          <p:cNvSpPr/>
          <p:nvPr/>
        </p:nvSpPr>
        <p:spPr>
          <a:xfrm>
            <a:off x="6153912" y="220370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AI Microservice</a:t>
            </a:r>
            <a:endParaRPr lang="en-US" sz="950" dirty="0"/>
          </a:p>
        </p:txBody>
      </p:sp>
      <p:sp>
        <p:nvSpPr>
          <p:cNvPr id="93" name="Text 91"/>
          <p:cNvSpPr/>
          <p:nvPr/>
        </p:nvSpPr>
        <p:spPr>
          <a:xfrm>
            <a:off x="7507224" y="2203704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Summaries / Tasks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6044184" y="2532888"/>
            <a:ext cx="27432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5" name="Text 93"/>
          <p:cNvSpPr/>
          <p:nvPr/>
        </p:nvSpPr>
        <p:spPr>
          <a:xfrm>
            <a:off x="6153912" y="253288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Jitsi</a:t>
            </a:r>
            <a:endParaRPr lang="en-US" sz="950" dirty="0"/>
          </a:p>
        </p:txBody>
      </p:sp>
      <p:sp>
        <p:nvSpPr>
          <p:cNvPr id="96" name="Text 94"/>
          <p:cNvSpPr/>
          <p:nvPr/>
        </p:nvSpPr>
        <p:spPr>
          <a:xfrm>
            <a:off x="7507224" y="2532888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Video conferencing</a:t>
            </a:r>
            <a:endParaRPr lang="en-US" sz="850" dirty="0"/>
          </a:p>
        </p:txBody>
      </p:sp>
      <p:sp>
        <p:nvSpPr>
          <p:cNvPr id="97" name="Shape 95"/>
          <p:cNvSpPr/>
          <p:nvPr/>
        </p:nvSpPr>
        <p:spPr>
          <a:xfrm>
            <a:off x="6044184" y="2862072"/>
            <a:ext cx="2743200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8" name="Text 96"/>
          <p:cNvSpPr/>
          <p:nvPr/>
        </p:nvSpPr>
        <p:spPr>
          <a:xfrm>
            <a:off x="6153912" y="286207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SMTP</a:t>
            </a:r>
            <a:endParaRPr lang="en-US" sz="950" dirty="0"/>
          </a:p>
        </p:txBody>
      </p:sp>
      <p:sp>
        <p:nvSpPr>
          <p:cNvPr id="99" name="Text 97"/>
          <p:cNvSpPr/>
          <p:nvPr/>
        </p:nvSpPr>
        <p:spPr>
          <a:xfrm>
            <a:off x="7507224" y="2862072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Email delivery</a:t>
            </a:r>
            <a:endParaRPr lang="en-US" sz="850" dirty="0"/>
          </a:p>
        </p:txBody>
      </p:sp>
      <p:sp>
        <p:nvSpPr>
          <p:cNvPr id="100" name="Shape 98"/>
          <p:cNvSpPr/>
          <p:nvPr/>
        </p:nvSpPr>
        <p:spPr>
          <a:xfrm>
            <a:off x="6044184" y="3191256"/>
            <a:ext cx="27432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1" name="Text 99"/>
          <p:cNvSpPr/>
          <p:nvPr/>
        </p:nvSpPr>
        <p:spPr>
          <a:xfrm>
            <a:off x="6153912" y="319125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MapLibre / OSRM</a:t>
            </a:r>
            <a:endParaRPr lang="en-US" sz="950" dirty="0"/>
          </a:p>
        </p:txBody>
      </p:sp>
      <p:sp>
        <p:nvSpPr>
          <p:cNvPr id="102" name="Text 100"/>
          <p:cNvSpPr/>
          <p:nvPr/>
        </p:nvSpPr>
        <p:spPr>
          <a:xfrm>
            <a:off x="7507224" y="3191256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Mapping</a:t>
            </a:r>
            <a:endParaRPr lang="en-US" sz="850" dirty="0"/>
          </a:p>
        </p:txBody>
      </p:sp>
      <p:sp>
        <p:nvSpPr>
          <p:cNvPr id="103" name="Shape 101"/>
          <p:cNvSpPr/>
          <p:nvPr/>
        </p:nvSpPr>
        <p:spPr>
          <a:xfrm>
            <a:off x="6044184" y="3520440"/>
            <a:ext cx="2743200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4" name="Text 102"/>
          <p:cNvSpPr/>
          <p:nvPr/>
        </p:nvSpPr>
        <p:spPr>
          <a:xfrm>
            <a:off x="6153912" y="35204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Docker-ready</a:t>
            </a:r>
            <a:endParaRPr lang="en-US" sz="950" dirty="0"/>
          </a:p>
        </p:txBody>
      </p:sp>
      <p:sp>
        <p:nvSpPr>
          <p:cNvPr id="105" name="Text 103"/>
          <p:cNvSpPr/>
          <p:nvPr/>
        </p:nvSpPr>
        <p:spPr>
          <a:xfrm>
            <a:off x="7507224" y="352044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Containerised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</a:rPr>
              <a:t>Project File Structure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832104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777240"/>
            <a:ext cx="4114800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77724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client/src/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170432"/>
            <a:ext cx="41148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7043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pages/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463040" y="117043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Route-level page components (Dashboard, Live Meeting, Archives…)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411480" y="1453896"/>
            <a:ext cx="411480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45389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features/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463040" y="1453896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Feature modules (meeting, dashboard, agenda, minutes, pins, polls…)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685800" y="1737360"/>
            <a:ext cx="38404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173736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meeting/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737360" y="173736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VideoArea, HostControls, ChatPanel, QROverlay, MeetingDock…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685800" y="2020824"/>
            <a:ext cx="384048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202082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dashboard/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737360" y="2020824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ArchiveListView, ArchiveDetailView, Task tables, Kanban…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85800" y="2304288"/>
            <a:ext cx="38404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230428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minutes/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737360" y="230428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MinutesPanel, Tasks, MeetingNotes, TaskFeedbackModal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85800" y="2587752"/>
            <a:ext cx="384048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258775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agenda/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737360" y="258775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AgendaPanel — live agenda management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11480" y="2871216"/>
            <a:ext cx="41148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287121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layouts/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463040" y="2871216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DashboardLayout, TopBar, Sidebar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11480" y="3154680"/>
            <a:ext cx="411480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315468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shared/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463040" y="315468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Icon, UserAvatar, ShortcutTooltip, Map components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11480" y="3438144"/>
            <a:ext cx="41148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343814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hooks/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463040" y="3438144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useWebRTC, useKeyboardShortcuts, useTranscriptCapture…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11480" y="3721608"/>
            <a:ext cx="411480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372160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stores/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463040" y="372160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AuthContext, SocketContext (React Context providers)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11480" y="4005072"/>
            <a:ext cx="41148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400507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modules/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463040" y="400507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MeetingCreation micro-frontend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11480" y="4288536"/>
            <a:ext cx="411480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428853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styles/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1463040" y="4288536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index.css — 7 200 line global stylesheet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11480" y="4572000"/>
            <a:ext cx="41148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" y="457200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utils/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1463040" y="457200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meetingSlug helpers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617720" y="777240"/>
            <a:ext cx="4114800" cy="32918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4617720" y="77724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server/src/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617720" y="1170432"/>
            <a:ext cx="4114800" cy="1965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90872" y="1170432"/>
            <a:ext cx="1051560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modules/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5715000" y="1170432"/>
            <a:ext cx="2834640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75569"/>
                </a:solidFill>
              </a:rPr>
              <a:t>One folder per domain — routes + schema</a:t>
            </a:r>
            <a:endParaRPr lang="en-US" sz="680" dirty="0"/>
          </a:p>
        </p:txBody>
      </p:sp>
      <p:sp>
        <p:nvSpPr>
          <p:cNvPr id="50" name="Shape 48"/>
          <p:cNvSpPr/>
          <p:nvPr/>
        </p:nvSpPr>
        <p:spPr>
          <a:xfrm>
            <a:off x="4846320" y="1385316"/>
            <a:ext cx="3886200" cy="19659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919472" y="1385316"/>
            <a:ext cx="1051560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auth/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5897880" y="1385316"/>
            <a:ext cx="2834640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75569"/>
                </a:solidFill>
              </a:rPr>
              <a:t>User registration, login, JWT, user search</a:t>
            </a:r>
            <a:endParaRPr lang="en-US" sz="680" dirty="0"/>
          </a:p>
        </p:txBody>
      </p:sp>
      <p:sp>
        <p:nvSpPr>
          <p:cNvPr id="53" name="Shape 51"/>
          <p:cNvSpPr/>
          <p:nvPr/>
        </p:nvSpPr>
        <p:spPr>
          <a:xfrm>
            <a:off x="4846320" y="1600200"/>
            <a:ext cx="3886200" cy="1965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19472" y="1600200"/>
            <a:ext cx="1051560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meeting/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5897880" y="1600200"/>
            <a:ext cx="2834640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75569"/>
                </a:solidFill>
              </a:rPr>
              <a:t>CRUD, participants, calendar ICS, personal rooms</a:t>
            </a:r>
            <a:endParaRPr lang="en-US" sz="680" dirty="0"/>
          </a:p>
        </p:txBody>
      </p:sp>
      <p:sp>
        <p:nvSpPr>
          <p:cNvPr id="56" name="Shape 54"/>
          <p:cNvSpPr/>
          <p:nvPr/>
        </p:nvSpPr>
        <p:spPr>
          <a:xfrm>
            <a:off x="4846320" y="1815084"/>
            <a:ext cx="3886200" cy="19659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919472" y="1815084"/>
            <a:ext cx="1051560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agenda/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5897880" y="1815084"/>
            <a:ext cx="2834640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75569"/>
                </a:solidFill>
              </a:rPr>
              <a:t>Agenda items CRUD per meeting</a:t>
            </a:r>
            <a:endParaRPr lang="en-US" sz="680" dirty="0"/>
          </a:p>
        </p:txBody>
      </p:sp>
      <p:sp>
        <p:nvSpPr>
          <p:cNvPr id="59" name="Shape 57"/>
          <p:cNvSpPr/>
          <p:nvPr/>
        </p:nvSpPr>
        <p:spPr>
          <a:xfrm>
            <a:off x="4846320" y="2029968"/>
            <a:ext cx="3886200" cy="1965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919472" y="2029968"/>
            <a:ext cx="1051560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minutes/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5897880" y="2029968"/>
            <a:ext cx="2834640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75569"/>
                </a:solidFill>
              </a:rPr>
              <a:t>Meeting minutes items</a:t>
            </a:r>
            <a:endParaRPr lang="en-US" sz="680" dirty="0"/>
          </a:p>
        </p:txBody>
      </p:sp>
      <p:sp>
        <p:nvSpPr>
          <p:cNvPr id="62" name="Shape 60"/>
          <p:cNvSpPr/>
          <p:nvPr/>
        </p:nvSpPr>
        <p:spPr>
          <a:xfrm>
            <a:off x="4846320" y="2244852"/>
            <a:ext cx="3886200" cy="19659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919472" y="2244852"/>
            <a:ext cx="1051560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task/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5897880" y="2244852"/>
            <a:ext cx="2834640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75569"/>
                </a:solidFill>
              </a:rPr>
              <a:t>Tasks (mine, overview, archived) — also /action-items</a:t>
            </a:r>
            <a:endParaRPr lang="en-US" sz="680" dirty="0"/>
          </a:p>
        </p:txBody>
      </p:sp>
      <p:sp>
        <p:nvSpPr>
          <p:cNvPr id="65" name="Shape 63"/>
          <p:cNvSpPr/>
          <p:nvPr/>
        </p:nvSpPr>
        <p:spPr>
          <a:xfrm>
            <a:off x="4846320" y="2459736"/>
            <a:ext cx="3886200" cy="1965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919472" y="2459736"/>
            <a:ext cx="1051560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archive/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5897880" y="2459736"/>
            <a:ext cx="2834640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75569"/>
                </a:solidFill>
              </a:rPr>
              <a:t>Completed meetings, transcript search, AI summaries</a:t>
            </a:r>
            <a:endParaRPr lang="en-US" sz="680" dirty="0"/>
          </a:p>
        </p:txBody>
      </p:sp>
      <p:sp>
        <p:nvSpPr>
          <p:cNvPr id="68" name="Shape 66"/>
          <p:cNvSpPr/>
          <p:nvPr/>
        </p:nvSpPr>
        <p:spPr>
          <a:xfrm>
            <a:off x="4846320" y="2674620"/>
            <a:ext cx="3886200" cy="19659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919472" y="2674620"/>
            <a:ext cx="1051560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transcript/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5897880" y="2674620"/>
            <a:ext cx="2834640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75569"/>
                </a:solidFill>
              </a:rPr>
              <a:t>Per-meeting transcript segments</a:t>
            </a:r>
            <a:endParaRPr lang="en-US" sz="680" dirty="0"/>
          </a:p>
        </p:txBody>
      </p:sp>
      <p:sp>
        <p:nvSpPr>
          <p:cNvPr id="71" name="Shape 69"/>
          <p:cNvSpPr/>
          <p:nvPr/>
        </p:nvSpPr>
        <p:spPr>
          <a:xfrm>
            <a:off x="4846320" y="2889504"/>
            <a:ext cx="3886200" cy="1965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919472" y="2889504"/>
            <a:ext cx="1051560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notification/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5897880" y="2889504"/>
            <a:ext cx="2834640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75569"/>
                </a:solidFill>
              </a:rPr>
              <a:t>In-app + browser notifications</a:t>
            </a:r>
            <a:endParaRPr lang="en-US" sz="680" dirty="0"/>
          </a:p>
        </p:txBody>
      </p:sp>
      <p:sp>
        <p:nvSpPr>
          <p:cNvPr id="74" name="Shape 72"/>
          <p:cNvSpPr/>
          <p:nvPr/>
        </p:nvSpPr>
        <p:spPr>
          <a:xfrm>
            <a:off x="4846320" y="3104388"/>
            <a:ext cx="3886200" cy="19659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919472" y="3104388"/>
            <a:ext cx="1051560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poll/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5897880" y="3104388"/>
            <a:ext cx="2834640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75569"/>
                </a:solidFill>
              </a:rPr>
              <a:t>Time-slot polls + voting</a:t>
            </a:r>
            <a:endParaRPr lang="en-US" sz="680" dirty="0"/>
          </a:p>
        </p:txBody>
      </p:sp>
      <p:sp>
        <p:nvSpPr>
          <p:cNvPr id="77" name="Shape 75"/>
          <p:cNvSpPr/>
          <p:nvPr/>
        </p:nvSpPr>
        <p:spPr>
          <a:xfrm>
            <a:off x="4846320" y="3319272"/>
            <a:ext cx="3886200" cy="1965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919472" y="3319272"/>
            <a:ext cx="1051560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rsvp/</a:t>
            </a:r>
            <a:endParaRPr lang="en-US" sz="750" dirty="0"/>
          </a:p>
        </p:txBody>
      </p:sp>
      <p:sp>
        <p:nvSpPr>
          <p:cNvPr id="79" name="Text 77"/>
          <p:cNvSpPr/>
          <p:nvPr/>
        </p:nvSpPr>
        <p:spPr>
          <a:xfrm>
            <a:off x="5897880" y="3319272"/>
            <a:ext cx="2834640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75569"/>
                </a:solidFill>
              </a:rPr>
              <a:t>Meeting RSVP responses</a:t>
            </a:r>
            <a:endParaRPr lang="en-US" sz="680" dirty="0"/>
          </a:p>
        </p:txBody>
      </p:sp>
      <p:sp>
        <p:nvSpPr>
          <p:cNvPr id="80" name="Shape 78"/>
          <p:cNvSpPr/>
          <p:nvPr/>
        </p:nvSpPr>
        <p:spPr>
          <a:xfrm>
            <a:off x="4846320" y="3534156"/>
            <a:ext cx="3886200" cy="19659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919472" y="3534156"/>
            <a:ext cx="1051560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rubric/</a:t>
            </a:r>
            <a:endParaRPr lang="en-US" sz="750" dirty="0"/>
          </a:p>
        </p:txBody>
      </p:sp>
      <p:sp>
        <p:nvSpPr>
          <p:cNvPr id="82" name="Text 80"/>
          <p:cNvSpPr/>
          <p:nvPr/>
        </p:nvSpPr>
        <p:spPr>
          <a:xfrm>
            <a:off x="5897880" y="3534156"/>
            <a:ext cx="2834640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75569"/>
                </a:solidFill>
              </a:rPr>
              <a:t>Meeting evaluation rubrics</a:t>
            </a:r>
            <a:endParaRPr lang="en-US" sz="680" dirty="0"/>
          </a:p>
        </p:txBody>
      </p:sp>
      <p:sp>
        <p:nvSpPr>
          <p:cNvPr id="83" name="Shape 81"/>
          <p:cNvSpPr/>
          <p:nvPr/>
        </p:nvSpPr>
        <p:spPr>
          <a:xfrm>
            <a:off x="4846320" y="3749040"/>
            <a:ext cx="3886200" cy="1965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919472" y="3749040"/>
            <a:ext cx="1051560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pin/</a:t>
            </a:r>
            <a:endParaRPr lang="en-US" sz="750" dirty="0"/>
          </a:p>
        </p:txBody>
      </p:sp>
      <p:sp>
        <p:nvSpPr>
          <p:cNvPr id="85" name="Text 83"/>
          <p:cNvSpPr/>
          <p:nvPr/>
        </p:nvSpPr>
        <p:spPr>
          <a:xfrm>
            <a:off x="5897880" y="3749040"/>
            <a:ext cx="2834640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75569"/>
                </a:solidFill>
              </a:rPr>
              <a:t>Resource pin bookmarks</a:t>
            </a:r>
            <a:endParaRPr lang="en-US" sz="680" dirty="0"/>
          </a:p>
        </p:txBody>
      </p:sp>
      <p:sp>
        <p:nvSpPr>
          <p:cNvPr id="86" name="Shape 84"/>
          <p:cNvSpPr/>
          <p:nvPr/>
        </p:nvSpPr>
        <p:spPr>
          <a:xfrm>
            <a:off x="4846320" y="3963924"/>
            <a:ext cx="3886200" cy="19659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919472" y="3963924"/>
            <a:ext cx="1051560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chat/</a:t>
            </a:r>
            <a:endParaRPr lang="en-US" sz="750" dirty="0"/>
          </a:p>
        </p:txBody>
      </p:sp>
      <p:sp>
        <p:nvSpPr>
          <p:cNvPr id="88" name="Text 86"/>
          <p:cNvSpPr/>
          <p:nvPr/>
        </p:nvSpPr>
        <p:spPr>
          <a:xfrm>
            <a:off x="5897880" y="3963924"/>
            <a:ext cx="2834640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75569"/>
                </a:solidFill>
              </a:rPr>
              <a:t>Persistent chat history</a:t>
            </a:r>
            <a:endParaRPr lang="en-US" sz="680" dirty="0"/>
          </a:p>
        </p:txBody>
      </p:sp>
      <p:sp>
        <p:nvSpPr>
          <p:cNvPr id="89" name="Shape 87"/>
          <p:cNvSpPr/>
          <p:nvPr/>
        </p:nvSpPr>
        <p:spPr>
          <a:xfrm>
            <a:off x="4846320" y="4178808"/>
            <a:ext cx="3886200" cy="1965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919472" y="4178808"/>
            <a:ext cx="1051560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search/</a:t>
            </a:r>
            <a:endParaRPr lang="en-US" sz="750" dirty="0"/>
          </a:p>
        </p:txBody>
      </p:sp>
      <p:sp>
        <p:nvSpPr>
          <p:cNvPr id="91" name="Text 89"/>
          <p:cNvSpPr/>
          <p:nvPr/>
        </p:nvSpPr>
        <p:spPr>
          <a:xfrm>
            <a:off x="5897880" y="4178808"/>
            <a:ext cx="2834640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75569"/>
                </a:solidFill>
              </a:rPr>
              <a:t>Global meeting + agenda search</a:t>
            </a:r>
            <a:endParaRPr lang="en-US" sz="680" dirty="0"/>
          </a:p>
        </p:txBody>
      </p:sp>
      <p:sp>
        <p:nvSpPr>
          <p:cNvPr id="92" name="Shape 90"/>
          <p:cNvSpPr/>
          <p:nvPr/>
        </p:nvSpPr>
        <p:spPr>
          <a:xfrm>
            <a:off x="4846320" y="4393692"/>
            <a:ext cx="3886200" cy="19659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919472" y="4393692"/>
            <a:ext cx="1051560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attendance/</a:t>
            </a:r>
            <a:endParaRPr lang="en-US" sz="750" dirty="0"/>
          </a:p>
        </p:txBody>
      </p:sp>
      <p:sp>
        <p:nvSpPr>
          <p:cNvPr id="94" name="Text 92"/>
          <p:cNvSpPr/>
          <p:nvPr/>
        </p:nvSpPr>
        <p:spPr>
          <a:xfrm>
            <a:off x="5897880" y="4393692"/>
            <a:ext cx="2834640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75569"/>
                </a:solidFill>
              </a:rPr>
              <a:t>QR-based attendance marking</a:t>
            </a:r>
            <a:endParaRPr lang="en-US" sz="680" dirty="0"/>
          </a:p>
        </p:txBody>
      </p:sp>
      <p:sp>
        <p:nvSpPr>
          <p:cNvPr id="95" name="Shape 93"/>
          <p:cNvSpPr/>
          <p:nvPr/>
        </p:nvSpPr>
        <p:spPr>
          <a:xfrm>
            <a:off x="4846320" y="4608576"/>
            <a:ext cx="3886200" cy="1965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919472" y="4608576"/>
            <a:ext cx="1051560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profile/</a:t>
            </a:r>
            <a:endParaRPr lang="en-US" sz="750" dirty="0"/>
          </a:p>
        </p:txBody>
      </p:sp>
      <p:sp>
        <p:nvSpPr>
          <p:cNvPr id="97" name="Text 95"/>
          <p:cNvSpPr/>
          <p:nvPr/>
        </p:nvSpPr>
        <p:spPr>
          <a:xfrm>
            <a:off x="5897880" y="4608576"/>
            <a:ext cx="2834640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75569"/>
                </a:solidFill>
              </a:rPr>
              <a:t>Avatar upload, settings</a:t>
            </a:r>
            <a:endParaRPr lang="en-US" sz="680" dirty="0"/>
          </a:p>
        </p:txBody>
      </p:sp>
      <p:sp>
        <p:nvSpPr>
          <p:cNvPr id="98" name="Shape 96"/>
          <p:cNvSpPr/>
          <p:nvPr/>
        </p:nvSpPr>
        <p:spPr>
          <a:xfrm>
            <a:off x="4846320" y="4823460"/>
            <a:ext cx="3886200" cy="19659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919472" y="4823460"/>
            <a:ext cx="1051560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dashboard/</a:t>
            </a:r>
            <a:endParaRPr lang="en-US" sz="750" dirty="0"/>
          </a:p>
        </p:txBody>
      </p:sp>
      <p:sp>
        <p:nvSpPr>
          <p:cNvPr id="100" name="Text 98"/>
          <p:cNvSpPr/>
          <p:nvPr/>
        </p:nvSpPr>
        <p:spPr>
          <a:xfrm>
            <a:off x="5897880" y="4823460"/>
            <a:ext cx="2834640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75569"/>
                </a:solidFill>
              </a:rPr>
              <a:t>Productivity stats</a:t>
            </a:r>
            <a:endParaRPr lang="en-US" sz="680" dirty="0"/>
          </a:p>
        </p:txBody>
      </p:sp>
      <p:sp>
        <p:nvSpPr>
          <p:cNvPr id="101" name="Shape 99"/>
          <p:cNvSpPr/>
          <p:nvPr/>
        </p:nvSpPr>
        <p:spPr>
          <a:xfrm>
            <a:off x="4617720" y="5038344"/>
            <a:ext cx="4114800" cy="1965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4690872" y="5038344"/>
            <a:ext cx="1051560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services/</a:t>
            </a:r>
            <a:endParaRPr lang="en-US" sz="750" dirty="0"/>
          </a:p>
        </p:txBody>
      </p:sp>
      <p:sp>
        <p:nvSpPr>
          <p:cNvPr id="103" name="Text 101"/>
          <p:cNvSpPr/>
          <p:nvPr/>
        </p:nvSpPr>
        <p:spPr>
          <a:xfrm>
            <a:off x="5715000" y="5038344"/>
            <a:ext cx="2834640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75569"/>
                </a:solidFill>
              </a:rPr>
              <a:t>aiService, deepgramStream, icsGenerator, briefGenerator</a:t>
            </a:r>
            <a:endParaRPr lang="en-US" sz="680" dirty="0"/>
          </a:p>
        </p:txBody>
      </p:sp>
      <p:sp>
        <p:nvSpPr>
          <p:cNvPr id="104" name="Shape 102"/>
          <p:cNvSpPr/>
          <p:nvPr/>
        </p:nvSpPr>
        <p:spPr>
          <a:xfrm>
            <a:off x="4617720" y="5253228"/>
            <a:ext cx="4114800" cy="19659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690872" y="5253228"/>
            <a:ext cx="1051560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middleware/</a:t>
            </a:r>
            <a:endParaRPr lang="en-US" sz="750" dirty="0"/>
          </a:p>
        </p:txBody>
      </p:sp>
      <p:sp>
        <p:nvSpPr>
          <p:cNvPr id="106" name="Text 104"/>
          <p:cNvSpPr/>
          <p:nvPr/>
        </p:nvSpPr>
        <p:spPr>
          <a:xfrm>
            <a:off x="5715000" y="5253228"/>
            <a:ext cx="2834640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75569"/>
                </a:solidFill>
              </a:rPr>
              <a:t>auth.ts — JWT protect middleware</a:t>
            </a:r>
            <a:endParaRPr lang="en-US" sz="680" dirty="0"/>
          </a:p>
        </p:txBody>
      </p:sp>
      <p:sp>
        <p:nvSpPr>
          <p:cNvPr id="107" name="Shape 105"/>
          <p:cNvSpPr/>
          <p:nvPr/>
        </p:nvSpPr>
        <p:spPr>
          <a:xfrm>
            <a:off x="4617720" y="5468112"/>
            <a:ext cx="4114800" cy="1965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4690872" y="5468112"/>
            <a:ext cx="1051560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utils/</a:t>
            </a:r>
            <a:endParaRPr lang="en-US" sz="750" dirty="0"/>
          </a:p>
        </p:txBody>
      </p:sp>
      <p:sp>
        <p:nvSpPr>
          <p:cNvPr id="109" name="Text 107"/>
          <p:cNvSpPr/>
          <p:nvPr/>
        </p:nvSpPr>
        <p:spPr>
          <a:xfrm>
            <a:off x="5715000" y="5468112"/>
            <a:ext cx="2834640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75569"/>
                </a:solidFill>
              </a:rPr>
              <a:t>searchHelpers, cache, meetingInviteId</a:t>
            </a:r>
            <a:endParaRPr lang="en-US" sz="680" dirty="0"/>
          </a:p>
        </p:txBody>
      </p:sp>
      <p:sp>
        <p:nvSpPr>
          <p:cNvPr id="110" name="Shape 108"/>
          <p:cNvSpPr/>
          <p:nvPr/>
        </p:nvSpPr>
        <p:spPr>
          <a:xfrm>
            <a:off x="4617720" y="5682996"/>
            <a:ext cx="4114800" cy="19659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4690872" y="5682996"/>
            <a:ext cx="1051560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server.ts</a:t>
            </a:r>
            <a:endParaRPr lang="en-US" sz="750" dirty="0"/>
          </a:p>
        </p:txBody>
      </p:sp>
      <p:sp>
        <p:nvSpPr>
          <p:cNvPr id="112" name="Text 110"/>
          <p:cNvSpPr/>
          <p:nvPr/>
        </p:nvSpPr>
        <p:spPr>
          <a:xfrm>
            <a:off x="5715000" y="5682996"/>
            <a:ext cx="2834640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75569"/>
                </a:solidFill>
              </a:rPr>
              <a:t>Express app + Socket.io — 2 400 lines</a:t>
            </a:r>
            <a:endParaRPr lang="en-US" sz="6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</a:rPr>
              <a:t>API Routes — Auth, Users &amp; Meetings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832104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777240"/>
            <a:ext cx="4114800" cy="3017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777240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/api/auth &amp; /api/users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411480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344" y="1078992"/>
            <a:ext cx="4754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941832" y="1078992"/>
            <a:ext cx="17282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/register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2670048" y="1078992"/>
            <a:ext cx="1856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Create new user account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11480" y="1335024"/>
            <a:ext cx="411480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" y="1335024"/>
            <a:ext cx="4754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941832" y="1335024"/>
            <a:ext cx="17282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/login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670048" y="1335024"/>
            <a:ext cx="1856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Authenticate, returns JWT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411480" y="1591056"/>
            <a:ext cx="411480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" y="1591056"/>
            <a:ext cx="4754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941832" y="1591056"/>
            <a:ext cx="17282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/me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670048" y="1591056"/>
            <a:ext cx="1856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Current user profile (protected)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11480" y="1847088"/>
            <a:ext cx="411480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" y="1847088"/>
            <a:ext cx="4754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941832" y="1847088"/>
            <a:ext cx="17282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/search?q=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2670048" y="1847088"/>
            <a:ext cx="1856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Find users by name/email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411480" y="2148840"/>
            <a:ext cx="4114800" cy="3017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11480" y="2148840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/api/meetings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11480" y="2450592"/>
            <a:ext cx="411480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" y="2450592"/>
            <a:ext cx="4754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941832" y="2450592"/>
            <a:ext cx="17282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670048" y="2450592"/>
            <a:ext cx="1856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All meetings for current user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411480" y="2706624"/>
            <a:ext cx="411480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" y="2706624"/>
            <a:ext cx="4754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941832" y="2706624"/>
            <a:ext cx="17282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/:id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670048" y="2706624"/>
            <a:ext cx="1856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Single meeting by id/slug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411480" y="2962656"/>
            <a:ext cx="411480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" y="2962656"/>
            <a:ext cx="4754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941832" y="2962656"/>
            <a:ext cx="17282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2670048" y="2962656"/>
            <a:ext cx="1856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Create new meeting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411480" y="3218688"/>
            <a:ext cx="411480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6344" y="3218688"/>
            <a:ext cx="4754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941832" y="3218688"/>
            <a:ext cx="17282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/:id/calendar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2670048" y="3218688"/>
            <a:ext cx="1856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Download .ics calendar invite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411480" y="3474720"/>
            <a:ext cx="411480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6344" y="3474720"/>
            <a:ext cx="4754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941832" y="3474720"/>
            <a:ext cx="17282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/personal-room/:roomId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2670048" y="3474720"/>
            <a:ext cx="1856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Personal room lookup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411480" y="3730752"/>
            <a:ext cx="411480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6344" y="3730752"/>
            <a:ext cx="4754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941832" y="3730752"/>
            <a:ext cx="17282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/:id/participants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2670048" y="3730752"/>
            <a:ext cx="1856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Add participant + notify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411480" y="4023360"/>
            <a:ext cx="4114800" cy="3017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411480" y="4023360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/api/polls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11480" y="4325112"/>
            <a:ext cx="411480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6344" y="4325112"/>
            <a:ext cx="4754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941832" y="4325112"/>
            <a:ext cx="17282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/:meetingId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2670048" y="4325112"/>
            <a:ext cx="1856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Get poll for meeting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411480" y="4581144"/>
            <a:ext cx="411480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66344" y="4581144"/>
            <a:ext cx="4754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941832" y="4581144"/>
            <a:ext cx="17282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/:pollId/vote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2670048" y="4581144"/>
            <a:ext cx="1856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Submit time-slot vote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4617720" y="777240"/>
            <a:ext cx="4114800" cy="3017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4617720" y="777240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/api/agenda  (prefix: /api/agenda)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4617720" y="1078992"/>
            <a:ext cx="411480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672584" y="1078992"/>
            <a:ext cx="4754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5148072" y="1078992"/>
            <a:ext cx="17282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/:meetingId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6876288" y="1078992"/>
            <a:ext cx="1856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Get all agenda items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4617720" y="1335024"/>
            <a:ext cx="411480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672584" y="1335024"/>
            <a:ext cx="4754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5148072" y="1335024"/>
            <a:ext cx="17282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/:meetingId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6876288" y="1335024"/>
            <a:ext cx="1856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Create agenda document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4617720" y="1591056"/>
            <a:ext cx="411480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672584" y="1591056"/>
            <a:ext cx="4754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5148072" y="1591056"/>
            <a:ext cx="17282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/:meetingId/items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6876288" y="1591056"/>
            <a:ext cx="1856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Add agenda item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4617720" y="1847088"/>
            <a:ext cx="411480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672584" y="1847088"/>
            <a:ext cx="4754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5148072" y="1847088"/>
            <a:ext cx="17282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/:meetingId/items/:id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6876288" y="1847088"/>
            <a:ext cx="1856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Update item (status, title…)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4617720" y="2148840"/>
            <a:ext cx="4114800" cy="30175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7" name="Text 75"/>
          <p:cNvSpPr/>
          <p:nvPr/>
        </p:nvSpPr>
        <p:spPr>
          <a:xfrm>
            <a:off x="4617720" y="2148840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/api/minutes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4617720" y="2450592"/>
            <a:ext cx="411480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672584" y="2450592"/>
            <a:ext cx="4754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700" dirty="0"/>
          </a:p>
        </p:txBody>
      </p:sp>
      <p:sp>
        <p:nvSpPr>
          <p:cNvPr id="80" name="Text 78"/>
          <p:cNvSpPr/>
          <p:nvPr/>
        </p:nvSpPr>
        <p:spPr>
          <a:xfrm>
            <a:off x="5148072" y="2450592"/>
            <a:ext cx="17282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/:meetingId</a:t>
            </a:r>
            <a:endParaRPr lang="en-US" sz="750" dirty="0"/>
          </a:p>
        </p:txBody>
      </p:sp>
      <p:sp>
        <p:nvSpPr>
          <p:cNvPr id="81" name="Text 79"/>
          <p:cNvSpPr/>
          <p:nvPr/>
        </p:nvSpPr>
        <p:spPr>
          <a:xfrm>
            <a:off x="6876288" y="2450592"/>
            <a:ext cx="1856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Get minutes document</a:t>
            </a:r>
            <a:endParaRPr lang="en-US" sz="700" dirty="0"/>
          </a:p>
        </p:txBody>
      </p:sp>
      <p:sp>
        <p:nvSpPr>
          <p:cNvPr id="82" name="Shape 80"/>
          <p:cNvSpPr/>
          <p:nvPr/>
        </p:nvSpPr>
        <p:spPr>
          <a:xfrm>
            <a:off x="4617720" y="2706624"/>
            <a:ext cx="411480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672584" y="2706624"/>
            <a:ext cx="4754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700" dirty="0"/>
          </a:p>
        </p:txBody>
      </p:sp>
      <p:sp>
        <p:nvSpPr>
          <p:cNvPr id="84" name="Text 82"/>
          <p:cNvSpPr/>
          <p:nvPr/>
        </p:nvSpPr>
        <p:spPr>
          <a:xfrm>
            <a:off x="5148072" y="2706624"/>
            <a:ext cx="17282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/:meetingId</a:t>
            </a:r>
            <a:endParaRPr lang="en-US" sz="750" dirty="0"/>
          </a:p>
        </p:txBody>
      </p:sp>
      <p:sp>
        <p:nvSpPr>
          <p:cNvPr id="85" name="Text 83"/>
          <p:cNvSpPr/>
          <p:nvPr/>
        </p:nvSpPr>
        <p:spPr>
          <a:xfrm>
            <a:off x="6876288" y="2706624"/>
            <a:ext cx="1856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Create minutes document</a:t>
            </a:r>
            <a:endParaRPr lang="en-US" sz="700" dirty="0"/>
          </a:p>
        </p:txBody>
      </p:sp>
      <p:sp>
        <p:nvSpPr>
          <p:cNvPr id="86" name="Shape 84"/>
          <p:cNvSpPr/>
          <p:nvPr/>
        </p:nvSpPr>
        <p:spPr>
          <a:xfrm>
            <a:off x="4617720" y="2962656"/>
            <a:ext cx="411480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672584" y="2962656"/>
            <a:ext cx="4754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700" dirty="0"/>
          </a:p>
        </p:txBody>
      </p:sp>
      <p:sp>
        <p:nvSpPr>
          <p:cNvPr id="88" name="Text 86"/>
          <p:cNvSpPr/>
          <p:nvPr/>
        </p:nvSpPr>
        <p:spPr>
          <a:xfrm>
            <a:off x="5148072" y="2962656"/>
            <a:ext cx="17282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/:meetingId/items</a:t>
            </a:r>
            <a:endParaRPr lang="en-US" sz="750" dirty="0"/>
          </a:p>
        </p:txBody>
      </p:sp>
      <p:sp>
        <p:nvSpPr>
          <p:cNvPr id="89" name="Text 87"/>
          <p:cNvSpPr/>
          <p:nvPr/>
        </p:nvSpPr>
        <p:spPr>
          <a:xfrm>
            <a:off x="6876288" y="2962656"/>
            <a:ext cx="1856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Add minutes item</a:t>
            </a:r>
            <a:endParaRPr lang="en-US" sz="700" dirty="0"/>
          </a:p>
        </p:txBody>
      </p:sp>
      <p:sp>
        <p:nvSpPr>
          <p:cNvPr id="90" name="Shape 88"/>
          <p:cNvSpPr/>
          <p:nvPr/>
        </p:nvSpPr>
        <p:spPr>
          <a:xfrm>
            <a:off x="4617720" y="3218688"/>
            <a:ext cx="411480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672584" y="3218688"/>
            <a:ext cx="4754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</a:t>
            </a:r>
            <a:endParaRPr lang="en-US" sz="700" dirty="0"/>
          </a:p>
        </p:txBody>
      </p:sp>
      <p:sp>
        <p:nvSpPr>
          <p:cNvPr id="92" name="Text 90"/>
          <p:cNvSpPr/>
          <p:nvPr/>
        </p:nvSpPr>
        <p:spPr>
          <a:xfrm>
            <a:off x="5148072" y="3218688"/>
            <a:ext cx="17282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/:meetingId/items/:id</a:t>
            </a:r>
            <a:endParaRPr lang="en-US" sz="750" dirty="0"/>
          </a:p>
        </p:txBody>
      </p:sp>
      <p:sp>
        <p:nvSpPr>
          <p:cNvPr id="93" name="Text 91"/>
          <p:cNvSpPr/>
          <p:nvPr/>
        </p:nvSpPr>
        <p:spPr>
          <a:xfrm>
            <a:off x="6876288" y="3218688"/>
            <a:ext cx="1856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Update minutes item</a:t>
            </a:r>
            <a:endParaRPr lang="en-US" sz="700" dirty="0"/>
          </a:p>
        </p:txBody>
      </p:sp>
      <p:sp>
        <p:nvSpPr>
          <p:cNvPr id="94" name="Shape 92"/>
          <p:cNvSpPr/>
          <p:nvPr/>
        </p:nvSpPr>
        <p:spPr>
          <a:xfrm>
            <a:off x="4617720" y="3703320"/>
            <a:ext cx="4114800" cy="30175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5" name="Text 93"/>
          <p:cNvSpPr/>
          <p:nvPr/>
        </p:nvSpPr>
        <p:spPr>
          <a:xfrm>
            <a:off x="4617720" y="3703320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/api/tasks  (alias: /api/action-items)</a:t>
            </a:r>
            <a:endParaRPr lang="en-US" sz="1050" dirty="0"/>
          </a:p>
        </p:txBody>
      </p:sp>
      <p:sp>
        <p:nvSpPr>
          <p:cNvPr id="96" name="Shape 94"/>
          <p:cNvSpPr/>
          <p:nvPr/>
        </p:nvSpPr>
        <p:spPr>
          <a:xfrm>
            <a:off x="4617720" y="4005072"/>
            <a:ext cx="411480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672584" y="4005072"/>
            <a:ext cx="4754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700" dirty="0"/>
          </a:p>
        </p:txBody>
      </p:sp>
      <p:sp>
        <p:nvSpPr>
          <p:cNvPr id="98" name="Text 96"/>
          <p:cNvSpPr/>
          <p:nvPr/>
        </p:nvSpPr>
        <p:spPr>
          <a:xfrm>
            <a:off x="5148072" y="4005072"/>
            <a:ext cx="17282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/mine</a:t>
            </a:r>
            <a:endParaRPr lang="en-US" sz="750" dirty="0"/>
          </a:p>
        </p:txBody>
      </p:sp>
      <p:sp>
        <p:nvSpPr>
          <p:cNvPr id="99" name="Text 97"/>
          <p:cNvSpPr/>
          <p:nvPr/>
        </p:nvSpPr>
        <p:spPr>
          <a:xfrm>
            <a:off x="6876288" y="4005072"/>
            <a:ext cx="1856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My open tasks</a:t>
            </a:r>
            <a:endParaRPr lang="en-US" sz="700" dirty="0"/>
          </a:p>
        </p:txBody>
      </p:sp>
      <p:sp>
        <p:nvSpPr>
          <p:cNvPr id="100" name="Shape 98"/>
          <p:cNvSpPr/>
          <p:nvPr/>
        </p:nvSpPr>
        <p:spPr>
          <a:xfrm>
            <a:off x="4617720" y="4261104"/>
            <a:ext cx="411480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4672584" y="4261104"/>
            <a:ext cx="4754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700" dirty="0"/>
          </a:p>
        </p:txBody>
      </p:sp>
      <p:sp>
        <p:nvSpPr>
          <p:cNvPr id="102" name="Text 100"/>
          <p:cNvSpPr/>
          <p:nvPr/>
        </p:nvSpPr>
        <p:spPr>
          <a:xfrm>
            <a:off x="5148072" y="4261104"/>
            <a:ext cx="17282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/mine/overview</a:t>
            </a:r>
            <a:endParaRPr lang="en-US" sz="750" dirty="0"/>
          </a:p>
        </p:txBody>
      </p:sp>
      <p:sp>
        <p:nvSpPr>
          <p:cNvPr id="103" name="Text 101"/>
          <p:cNvSpPr/>
          <p:nvPr/>
        </p:nvSpPr>
        <p:spPr>
          <a:xfrm>
            <a:off x="6876288" y="4261104"/>
            <a:ext cx="1856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Productivity stats</a:t>
            </a:r>
            <a:endParaRPr lang="en-US" sz="700" dirty="0"/>
          </a:p>
        </p:txBody>
      </p:sp>
      <p:sp>
        <p:nvSpPr>
          <p:cNvPr id="104" name="Shape 102"/>
          <p:cNvSpPr/>
          <p:nvPr/>
        </p:nvSpPr>
        <p:spPr>
          <a:xfrm>
            <a:off x="4617720" y="4517136"/>
            <a:ext cx="411480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672584" y="4517136"/>
            <a:ext cx="4754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700" dirty="0"/>
          </a:p>
        </p:txBody>
      </p:sp>
      <p:sp>
        <p:nvSpPr>
          <p:cNvPr id="106" name="Text 104"/>
          <p:cNvSpPr/>
          <p:nvPr/>
        </p:nvSpPr>
        <p:spPr>
          <a:xfrm>
            <a:off x="5148072" y="4517136"/>
            <a:ext cx="17282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/mine/archived</a:t>
            </a:r>
            <a:endParaRPr lang="en-US" sz="750" dirty="0"/>
          </a:p>
        </p:txBody>
      </p:sp>
      <p:sp>
        <p:nvSpPr>
          <p:cNvPr id="107" name="Text 105"/>
          <p:cNvSpPr/>
          <p:nvPr/>
        </p:nvSpPr>
        <p:spPr>
          <a:xfrm>
            <a:off x="6876288" y="4517136"/>
            <a:ext cx="1856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Archived tasks</a:t>
            </a:r>
            <a:endParaRPr lang="en-US" sz="700" dirty="0"/>
          </a:p>
        </p:txBody>
      </p:sp>
      <p:sp>
        <p:nvSpPr>
          <p:cNvPr id="108" name="Shape 106"/>
          <p:cNvSpPr/>
          <p:nvPr/>
        </p:nvSpPr>
        <p:spPr>
          <a:xfrm>
            <a:off x="4617720" y="4773168"/>
            <a:ext cx="411480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4672584" y="4773168"/>
            <a:ext cx="4754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700" dirty="0"/>
          </a:p>
        </p:txBody>
      </p:sp>
      <p:sp>
        <p:nvSpPr>
          <p:cNvPr id="110" name="Text 108"/>
          <p:cNvSpPr/>
          <p:nvPr/>
        </p:nvSpPr>
        <p:spPr>
          <a:xfrm>
            <a:off x="5148072" y="4773168"/>
            <a:ext cx="17282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/:meetingId</a:t>
            </a:r>
            <a:endParaRPr lang="en-US" sz="750" dirty="0"/>
          </a:p>
        </p:txBody>
      </p:sp>
      <p:sp>
        <p:nvSpPr>
          <p:cNvPr id="111" name="Text 109"/>
          <p:cNvSpPr/>
          <p:nvPr/>
        </p:nvSpPr>
        <p:spPr>
          <a:xfrm>
            <a:off x="6876288" y="4773168"/>
            <a:ext cx="1856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Tasks for meeting</a:t>
            </a:r>
            <a:endParaRPr lang="en-US" sz="700" dirty="0"/>
          </a:p>
        </p:txBody>
      </p:sp>
      <p:sp>
        <p:nvSpPr>
          <p:cNvPr id="112" name="Shape 110"/>
          <p:cNvSpPr/>
          <p:nvPr/>
        </p:nvSpPr>
        <p:spPr>
          <a:xfrm>
            <a:off x="4617720" y="5029200"/>
            <a:ext cx="411480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4672584" y="5029200"/>
            <a:ext cx="4754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700" dirty="0"/>
          </a:p>
        </p:txBody>
      </p:sp>
      <p:sp>
        <p:nvSpPr>
          <p:cNvPr id="114" name="Text 112"/>
          <p:cNvSpPr/>
          <p:nvPr/>
        </p:nvSpPr>
        <p:spPr>
          <a:xfrm>
            <a:off x="5148072" y="5029200"/>
            <a:ext cx="17282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/:meetingId</a:t>
            </a:r>
            <a:endParaRPr lang="en-US" sz="750" dirty="0"/>
          </a:p>
        </p:txBody>
      </p:sp>
      <p:sp>
        <p:nvSpPr>
          <p:cNvPr id="115" name="Text 113"/>
          <p:cNvSpPr/>
          <p:nvPr/>
        </p:nvSpPr>
        <p:spPr>
          <a:xfrm>
            <a:off x="6876288" y="5029200"/>
            <a:ext cx="1856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Create task</a:t>
            </a:r>
            <a:endParaRPr lang="en-US" sz="700" dirty="0"/>
          </a:p>
        </p:txBody>
      </p:sp>
      <p:sp>
        <p:nvSpPr>
          <p:cNvPr id="116" name="Shape 114"/>
          <p:cNvSpPr/>
          <p:nvPr/>
        </p:nvSpPr>
        <p:spPr>
          <a:xfrm>
            <a:off x="4617720" y="5285232"/>
            <a:ext cx="411480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4672584" y="5285232"/>
            <a:ext cx="4754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</a:t>
            </a:r>
            <a:endParaRPr lang="en-US" sz="700" dirty="0"/>
          </a:p>
        </p:txBody>
      </p:sp>
      <p:sp>
        <p:nvSpPr>
          <p:cNvPr id="118" name="Text 116"/>
          <p:cNvSpPr/>
          <p:nvPr/>
        </p:nvSpPr>
        <p:spPr>
          <a:xfrm>
            <a:off x="5148072" y="5285232"/>
            <a:ext cx="17282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/:id</a:t>
            </a:r>
            <a:endParaRPr lang="en-US" sz="750" dirty="0"/>
          </a:p>
        </p:txBody>
      </p:sp>
      <p:sp>
        <p:nvSpPr>
          <p:cNvPr id="119" name="Text 117"/>
          <p:cNvSpPr/>
          <p:nvPr/>
        </p:nvSpPr>
        <p:spPr>
          <a:xfrm>
            <a:off x="6876288" y="5285232"/>
            <a:ext cx="1856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Update task status/details</a:t>
            </a:r>
            <a:endParaRPr lang="en-US" sz="700" dirty="0"/>
          </a:p>
        </p:txBody>
      </p:sp>
      <p:sp>
        <p:nvSpPr>
          <p:cNvPr id="120" name="Shape 118"/>
          <p:cNvSpPr/>
          <p:nvPr/>
        </p:nvSpPr>
        <p:spPr>
          <a:xfrm>
            <a:off x="4617720" y="5541264"/>
            <a:ext cx="411480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4672584" y="5541264"/>
            <a:ext cx="4754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E11D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endParaRPr lang="en-US" sz="700" dirty="0"/>
          </a:p>
        </p:txBody>
      </p:sp>
      <p:sp>
        <p:nvSpPr>
          <p:cNvPr id="122" name="Text 120"/>
          <p:cNvSpPr/>
          <p:nvPr/>
        </p:nvSpPr>
        <p:spPr>
          <a:xfrm>
            <a:off x="5148072" y="5541264"/>
            <a:ext cx="17282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/:id</a:t>
            </a:r>
            <a:endParaRPr lang="en-US" sz="750" dirty="0"/>
          </a:p>
        </p:txBody>
      </p:sp>
      <p:sp>
        <p:nvSpPr>
          <p:cNvPr id="123" name="Text 121"/>
          <p:cNvSpPr/>
          <p:nvPr/>
        </p:nvSpPr>
        <p:spPr>
          <a:xfrm>
            <a:off x="6876288" y="5541264"/>
            <a:ext cx="1856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Delete task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</a:rPr>
              <a:t>API Routes — Archive, Search &amp; Supporting Services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832104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777240"/>
            <a:ext cx="4114800" cy="2834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777240"/>
            <a:ext cx="4114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/api/archive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11480" y="1060704"/>
            <a:ext cx="411480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344" y="1060704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923544" y="1060704"/>
            <a:ext cx="18105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/filters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2734056" y="1060704"/>
            <a:ext cx="17922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Tag / people filter options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411480" y="1298448"/>
            <a:ext cx="4114800" cy="2194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" y="1298448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923544" y="1298448"/>
            <a:ext cx="18105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2734056" y="1298448"/>
            <a:ext cx="17922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Paginated archive list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411480" y="1536192"/>
            <a:ext cx="411480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" y="1536192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923544" y="1536192"/>
            <a:ext cx="18105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/:meetingId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734056" y="1536192"/>
            <a:ext cx="17922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Full archive detail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411480" y="1773936"/>
            <a:ext cx="4114800" cy="2194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" y="1773936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923544" y="1773936"/>
            <a:ext cx="18105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/:id/transcript-query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2734056" y="1773936"/>
            <a:ext cx="17922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Server-side transcript search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411480" y="2011680"/>
            <a:ext cx="411480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" y="2011680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923544" y="2011680"/>
            <a:ext cx="18105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/:id/summary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2734056" y="2011680"/>
            <a:ext cx="17922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AI agenda summary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411480" y="2249424"/>
            <a:ext cx="4114800" cy="2194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" y="2249424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923544" y="2249424"/>
            <a:ext cx="18105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/:id/final-summary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2734056" y="2249424"/>
            <a:ext cx="17922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AI full meeting summary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411480" y="2487168"/>
            <a:ext cx="411480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" y="2487168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923544" y="2487168"/>
            <a:ext cx="18105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/:id/extract-tasks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2734056" y="2487168"/>
            <a:ext cx="17922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AI extract action items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411480" y="2724912"/>
            <a:ext cx="4114800" cy="2194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" y="2724912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PATCH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923544" y="2724912"/>
            <a:ext cx="18105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/meeting/:id/title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2734056" y="2724912"/>
            <a:ext cx="17922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Rename archived meeting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411480" y="2962656"/>
            <a:ext cx="411480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6344" y="2962656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PATCH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923544" y="2962656"/>
            <a:ext cx="18105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/:id/tags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2734056" y="2962656"/>
            <a:ext cx="17922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Update meeting tags</a:t>
            </a:r>
            <a:endParaRPr lang="en-US" sz="650" dirty="0"/>
          </a:p>
        </p:txBody>
      </p:sp>
      <p:sp>
        <p:nvSpPr>
          <p:cNvPr id="42" name="Shape 40"/>
          <p:cNvSpPr/>
          <p:nvPr/>
        </p:nvSpPr>
        <p:spPr>
          <a:xfrm>
            <a:off x="411480" y="3200400"/>
            <a:ext cx="4114800" cy="2194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6344" y="3200400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E11D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923544" y="3200400"/>
            <a:ext cx="18105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/meeting/:id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2734056" y="3200400"/>
            <a:ext cx="17922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Delete archive record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411480" y="3383280"/>
            <a:ext cx="4114800" cy="2834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411480" y="3383280"/>
            <a:ext cx="4114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/api/search, /api/transcript, /api/chat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11480" y="3666744"/>
            <a:ext cx="411480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6344" y="3666744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650" dirty="0"/>
          </a:p>
        </p:txBody>
      </p:sp>
      <p:sp>
        <p:nvSpPr>
          <p:cNvPr id="50" name="Text 48"/>
          <p:cNvSpPr/>
          <p:nvPr/>
        </p:nvSpPr>
        <p:spPr>
          <a:xfrm>
            <a:off x="923544" y="3666744"/>
            <a:ext cx="18105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/search?q=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2734056" y="3666744"/>
            <a:ext cx="17922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Global search (meetings + agenda)</a:t>
            </a:r>
            <a:endParaRPr lang="en-US" sz="650" dirty="0"/>
          </a:p>
        </p:txBody>
      </p:sp>
      <p:sp>
        <p:nvSpPr>
          <p:cNvPr id="52" name="Shape 50"/>
          <p:cNvSpPr/>
          <p:nvPr/>
        </p:nvSpPr>
        <p:spPr>
          <a:xfrm>
            <a:off x="411480" y="3904488"/>
            <a:ext cx="4114800" cy="2194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66344" y="3904488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923544" y="3904488"/>
            <a:ext cx="18105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/transcript/:id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2734056" y="3904488"/>
            <a:ext cx="17922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Transcript segments for meeting</a:t>
            </a:r>
            <a:endParaRPr lang="en-US" sz="650" dirty="0"/>
          </a:p>
        </p:txBody>
      </p:sp>
      <p:sp>
        <p:nvSpPr>
          <p:cNvPr id="56" name="Shape 54"/>
          <p:cNvSpPr/>
          <p:nvPr/>
        </p:nvSpPr>
        <p:spPr>
          <a:xfrm>
            <a:off x="411480" y="4142232"/>
            <a:ext cx="411480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66344" y="4142232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923544" y="4142232"/>
            <a:ext cx="18105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/chat/:meetingId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2734056" y="4142232"/>
            <a:ext cx="17922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Chat history for meeting</a:t>
            </a:r>
            <a:endParaRPr lang="en-US" sz="650" dirty="0"/>
          </a:p>
        </p:txBody>
      </p:sp>
      <p:sp>
        <p:nvSpPr>
          <p:cNvPr id="60" name="Shape 58"/>
          <p:cNvSpPr/>
          <p:nvPr/>
        </p:nvSpPr>
        <p:spPr>
          <a:xfrm>
            <a:off x="4617720" y="777240"/>
            <a:ext cx="4114800" cy="2834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4617720" y="777240"/>
            <a:ext cx="4114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/api/notifications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4617720" y="1060704"/>
            <a:ext cx="411480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672584" y="1060704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650" dirty="0"/>
          </a:p>
        </p:txBody>
      </p:sp>
      <p:sp>
        <p:nvSpPr>
          <p:cNvPr id="64" name="Text 62"/>
          <p:cNvSpPr/>
          <p:nvPr/>
        </p:nvSpPr>
        <p:spPr>
          <a:xfrm>
            <a:off x="5129784" y="1060704"/>
            <a:ext cx="18105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6940296" y="1060704"/>
            <a:ext cx="17922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Get user notifications (newest first)</a:t>
            </a:r>
            <a:endParaRPr lang="en-US" sz="650" dirty="0"/>
          </a:p>
        </p:txBody>
      </p:sp>
      <p:sp>
        <p:nvSpPr>
          <p:cNvPr id="66" name="Shape 64"/>
          <p:cNvSpPr/>
          <p:nvPr/>
        </p:nvSpPr>
        <p:spPr>
          <a:xfrm>
            <a:off x="4617720" y="1298448"/>
            <a:ext cx="4114800" cy="2194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672584" y="1298448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PATCH</a:t>
            </a:r>
            <a:endParaRPr lang="en-US" sz="650" dirty="0"/>
          </a:p>
        </p:txBody>
      </p:sp>
      <p:sp>
        <p:nvSpPr>
          <p:cNvPr id="68" name="Text 66"/>
          <p:cNvSpPr/>
          <p:nvPr/>
        </p:nvSpPr>
        <p:spPr>
          <a:xfrm>
            <a:off x="5129784" y="1298448"/>
            <a:ext cx="18105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/:id/read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6940296" y="1298448"/>
            <a:ext cx="17922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Mark single notification read</a:t>
            </a:r>
            <a:endParaRPr lang="en-US" sz="650" dirty="0"/>
          </a:p>
        </p:txBody>
      </p:sp>
      <p:sp>
        <p:nvSpPr>
          <p:cNvPr id="70" name="Shape 68"/>
          <p:cNvSpPr/>
          <p:nvPr/>
        </p:nvSpPr>
        <p:spPr>
          <a:xfrm>
            <a:off x="4617720" y="1536192"/>
            <a:ext cx="411480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672584" y="1536192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PATCH</a:t>
            </a:r>
            <a:endParaRPr lang="en-US" sz="650" dirty="0"/>
          </a:p>
        </p:txBody>
      </p:sp>
      <p:sp>
        <p:nvSpPr>
          <p:cNvPr id="72" name="Text 70"/>
          <p:cNvSpPr/>
          <p:nvPr/>
        </p:nvSpPr>
        <p:spPr>
          <a:xfrm>
            <a:off x="5129784" y="1536192"/>
            <a:ext cx="18105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/read-all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6940296" y="1536192"/>
            <a:ext cx="17922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Mark all notifications read</a:t>
            </a:r>
            <a:endParaRPr lang="en-US" sz="650" dirty="0"/>
          </a:p>
        </p:txBody>
      </p:sp>
      <p:sp>
        <p:nvSpPr>
          <p:cNvPr id="74" name="Shape 72"/>
          <p:cNvSpPr/>
          <p:nvPr/>
        </p:nvSpPr>
        <p:spPr>
          <a:xfrm>
            <a:off x="4617720" y="1920240"/>
            <a:ext cx="4114800" cy="2834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5" name="Text 73"/>
          <p:cNvSpPr/>
          <p:nvPr/>
        </p:nvSpPr>
        <p:spPr>
          <a:xfrm>
            <a:off x="4617720" y="1920240"/>
            <a:ext cx="4114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/api/attendance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4617720" y="2203704"/>
            <a:ext cx="411480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672584" y="2203704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650" dirty="0"/>
          </a:p>
        </p:txBody>
      </p:sp>
      <p:sp>
        <p:nvSpPr>
          <p:cNvPr id="78" name="Text 76"/>
          <p:cNvSpPr/>
          <p:nvPr/>
        </p:nvSpPr>
        <p:spPr>
          <a:xfrm>
            <a:off x="5129784" y="2203704"/>
            <a:ext cx="18105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/:id/generate-qr</a:t>
            </a:r>
            <a:endParaRPr lang="en-US" sz="700" dirty="0"/>
          </a:p>
        </p:txBody>
      </p:sp>
      <p:sp>
        <p:nvSpPr>
          <p:cNvPr id="79" name="Text 77"/>
          <p:cNvSpPr/>
          <p:nvPr/>
        </p:nvSpPr>
        <p:spPr>
          <a:xfrm>
            <a:off x="6940296" y="2203704"/>
            <a:ext cx="17922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Generate QR code for check-in</a:t>
            </a:r>
            <a:endParaRPr lang="en-US" sz="650" dirty="0"/>
          </a:p>
        </p:txBody>
      </p:sp>
      <p:sp>
        <p:nvSpPr>
          <p:cNvPr id="80" name="Shape 78"/>
          <p:cNvSpPr/>
          <p:nvPr/>
        </p:nvSpPr>
        <p:spPr>
          <a:xfrm>
            <a:off x="4617720" y="2441448"/>
            <a:ext cx="4114800" cy="2194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672584" y="2441448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650" dirty="0"/>
          </a:p>
        </p:txBody>
      </p:sp>
      <p:sp>
        <p:nvSpPr>
          <p:cNvPr id="82" name="Text 80"/>
          <p:cNvSpPr/>
          <p:nvPr/>
        </p:nvSpPr>
        <p:spPr>
          <a:xfrm>
            <a:off x="5129784" y="2441448"/>
            <a:ext cx="18105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/:id/mark</a:t>
            </a:r>
            <a:endParaRPr lang="en-US" sz="700" dirty="0"/>
          </a:p>
        </p:txBody>
      </p:sp>
      <p:sp>
        <p:nvSpPr>
          <p:cNvPr id="83" name="Text 81"/>
          <p:cNvSpPr/>
          <p:nvPr/>
        </p:nvSpPr>
        <p:spPr>
          <a:xfrm>
            <a:off x="6940296" y="2441448"/>
            <a:ext cx="17922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Public mark-attendance page</a:t>
            </a:r>
            <a:endParaRPr lang="en-US" sz="650" dirty="0"/>
          </a:p>
        </p:txBody>
      </p:sp>
      <p:sp>
        <p:nvSpPr>
          <p:cNvPr id="84" name="Shape 82"/>
          <p:cNvSpPr/>
          <p:nvPr/>
        </p:nvSpPr>
        <p:spPr>
          <a:xfrm>
            <a:off x="4617720" y="2679192"/>
            <a:ext cx="411480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672584" y="2679192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650" dirty="0"/>
          </a:p>
        </p:txBody>
      </p:sp>
      <p:sp>
        <p:nvSpPr>
          <p:cNvPr id="86" name="Text 84"/>
          <p:cNvSpPr/>
          <p:nvPr/>
        </p:nvSpPr>
        <p:spPr>
          <a:xfrm>
            <a:off x="5129784" y="2679192"/>
            <a:ext cx="18105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/:id/mark</a:t>
            </a:r>
            <a:endParaRPr lang="en-US" sz="700" dirty="0"/>
          </a:p>
        </p:txBody>
      </p:sp>
      <p:sp>
        <p:nvSpPr>
          <p:cNvPr id="87" name="Text 85"/>
          <p:cNvSpPr/>
          <p:nvPr/>
        </p:nvSpPr>
        <p:spPr>
          <a:xfrm>
            <a:off x="6940296" y="2679192"/>
            <a:ext cx="17922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Mark self present</a:t>
            </a:r>
            <a:endParaRPr lang="en-US" sz="650" dirty="0"/>
          </a:p>
        </p:txBody>
      </p:sp>
      <p:sp>
        <p:nvSpPr>
          <p:cNvPr id="88" name="Shape 86"/>
          <p:cNvSpPr/>
          <p:nvPr/>
        </p:nvSpPr>
        <p:spPr>
          <a:xfrm>
            <a:off x="4617720" y="2916936"/>
            <a:ext cx="4114800" cy="2194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672584" y="2916936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650" dirty="0"/>
          </a:p>
        </p:txBody>
      </p:sp>
      <p:sp>
        <p:nvSpPr>
          <p:cNvPr id="90" name="Text 88"/>
          <p:cNvSpPr/>
          <p:nvPr/>
        </p:nvSpPr>
        <p:spPr>
          <a:xfrm>
            <a:off x="5129784" y="2916936"/>
            <a:ext cx="18105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/:id</a:t>
            </a:r>
            <a:endParaRPr lang="en-US" sz="700" dirty="0"/>
          </a:p>
        </p:txBody>
      </p:sp>
      <p:sp>
        <p:nvSpPr>
          <p:cNvPr id="91" name="Text 89"/>
          <p:cNvSpPr/>
          <p:nvPr/>
        </p:nvSpPr>
        <p:spPr>
          <a:xfrm>
            <a:off x="6940296" y="2916936"/>
            <a:ext cx="17922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Attendance list</a:t>
            </a:r>
            <a:endParaRPr lang="en-US" sz="650" dirty="0"/>
          </a:p>
        </p:txBody>
      </p:sp>
      <p:sp>
        <p:nvSpPr>
          <p:cNvPr id="92" name="Shape 90"/>
          <p:cNvSpPr/>
          <p:nvPr/>
        </p:nvSpPr>
        <p:spPr>
          <a:xfrm>
            <a:off x="4617720" y="3154680"/>
            <a:ext cx="411480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672584" y="3154680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650" dirty="0"/>
          </a:p>
        </p:txBody>
      </p:sp>
      <p:sp>
        <p:nvSpPr>
          <p:cNvPr id="94" name="Text 92"/>
          <p:cNvSpPr/>
          <p:nvPr/>
        </p:nvSpPr>
        <p:spPr>
          <a:xfrm>
            <a:off x="5129784" y="3154680"/>
            <a:ext cx="18105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/:id/report</a:t>
            </a:r>
            <a:endParaRPr lang="en-US" sz="700" dirty="0"/>
          </a:p>
        </p:txBody>
      </p:sp>
      <p:sp>
        <p:nvSpPr>
          <p:cNvPr id="95" name="Text 93"/>
          <p:cNvSpPr/>
          <p:nvPr/>
        </p:nvSpPr>
        <p:spPr>
          <a:xfrm>
            <a:off x="6940296" y="3154680"/>
            <a:ext cx="17922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Attendance report</a:t>
            </a:r>
            <a:endParaRPr lang="en-US" sz="650" dirty="0"/>
          </a:p>
        </p:txBody>
      </p:sp>
      <p:sp>
        <p:nvSpPr>
          <p:cNvPr id="96" name="Shape 94"/>
          <p:cNvSpPr/>
          <p:nvPr/>
        </p:nvSpPr>
        <p:spPr>
          <a:xfrm>
            <a:off x="4617720" y="3337560"/>
            <a:ext cx="4114800" cy="28346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7" name="Text 95"/>
          <p:cNvSpPr/>
          <p:nvPr/>
        </p:nvSpPr>
        <p:spPr>
          <a:xfrm>
            <a:off x="4617720" y="3337560"/>
            <a:ext cx="4114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/api/rsvp  ·  /api/rubric  ·  /api/pins</a:t>
            </a:r>
            <a:endParaRPr lang="en-US" sz="950" dirty="0"/>
          </a:p>
        </p:txBody>
      </p:sp>
      <p:sp>
        <p:nvSpPr>
          <p:cNvPr id="98" name="Shape 96"/>
          <p:cNvSpPr/>
          <p:nvPr/>
        </p:nvSpPr>
        <p:spPr>
          <a:xfrm>
            <a:off x="4617720" y="3621024"/>
            <a:ext cx="411480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672584" y="3621024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650" dirty="0"/>
          </a:p>
        </p:txBody>
      </p:sp>
      <p:sp>
        <p:nvSpPr>
          <p:cNvPr id="100" name="Text 98"/>
          <p:cNvSpPr/>
          <p:nvPr/>
        </p:nvSpPr>
        <p:spPr>
          <a:xfrm>
            <a:off x="5129784" y="3621024"/>
            <a:ext cx="18105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/rsvp/:id</a:t>
            </a:r>
            <a:endParaRPr lang="en-US" sz="700" dirty="0"/>
          </a:p>
        </p:txBody>
      </p:sp>
      <p:sp>
        <p:nvSpPr>
          <p:cNvPr id="101" name="Text 99"/>
          <p:cNvSpPr/>
          <p:nvPr/>
        </p:nvSpPr>
        <p:spPr>
          <a:xfrm>
            <a:off x="6940296" y="3621024"/>
            <a:ext cx="17922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Get RSVPs for meeting</a:t>
            </a:r>
            <a:endParaRPr lang="en-US" sz="650" dirty="0"/>
          </a:p>
        </p:txBody>
      </p:sp>
      <p:sp>
        <p:nvSpPr>
          <p:cNvPr id="102" name="Shape 100"/>
          <p:cNvSpPr/>
          <p:nvPr/>
        </p:nvSpPr>
        <p:spPr>
          <a:xfrm>
            <a:off x="4617720" y="3858768"/>
            <a:ext cx="4114800" cy="2194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4672584" y="3858768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650" dirty="0"/>
          </a:p>
        </p:txBody>
      </p:sp>
      <p:sp>
        <p:nvSpPr>
          <p:cNvPr id="104" name="Text 102"/>
          <p:cNvSpPr/>
          <p:nvPr/>
        </p:nvSpPr>
        <p:spPr>
          <a:xfrm>
            <a:off x="5129784" y="3858768"/>
            <a:ext cx="18105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/rsvp/:id</a:t>
            </a:r>
            <a:endParaRPr lang="en-US" sz="700" dirty="0"/>
          </a:p>
        </p:txBody>
      </p:sp>
      <p:sp>
        <p:nvSpPr>
          <p:cNvPr id="105" name="Text 103"/>
          <p:cNvSpPr/>
          <p:nvPr/>
        </p:nvSpPr>
        <p:spPr>
          <a:xfrm>
            <a:off x="6940296" y="3858768"/>
            <a:ext cx="17922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Submit RSVP response</a:t>
            </a:r>
            <a:endParaRPr lang="en-US" sz="650" dirty="0"/>
          </a:p>
        </p:txBody>
      </p:sp>
      <p:sp>
        <p:nvSpPr>
          <p:cNvPr id="106" name="Shape 104"/>
          <p:cNvSpPr/>
          <p:nvPr/>
        </p:nvSpPr>
        <p:spPr>
          <a:xfrm>
            <a:off x="4617720" y="4096512"/>
            <a:ext cx="411480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4672584" y="4096512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650" dirty="0"/>
          </a:p>
        </p:txBody>
      </p:sp>
      <p:sp>
        <p:nvSpPr>
          <p:cNvPr id="108" name="Text 106"/>
          <p:cNvSpPr/>
          <p:nvPr/>
        </p:nvSpPr>
        <p:spPr>
          <a:xfrm>
            <a:off x="5129784" y="4096512"/>
            <a:ext cx="18105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/rsvp/:id/respond</a:t>
            </a:r>
            <a:endParaRPr lang="en-US" sz="700" dirty="0"/>
          </a:p>
        </p:txBody>
      </p:sp>
      <p:sp>
        <p:nvSpPr>
          <p:cNvPr id="109" name="Text 107"/>
          <p:cNvSpPr/>
          <p:nvPr/>
        </p:nvSpPr>
        <p:spPr>
          <a:xfrm>
            <a:off x="6940296" y="4096512"/>
            <a:ext cx="17922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Public RSVP link</a:t>
            </a:r>
            <a:endParaRPr lang="en-US" sz="650" dirty="0"/>
          </a:p>
        </p:txBody>
      </p:sp>
      <p:sp>
        <p:nvSpPr>
          <p:cNvPr id="110" name="Shape 108"/>
          <p:cNvSpPr/>
          <p:nvPr/>
        </p:nvSpPr>
        <p:spPr>
          <a:xfrm>
            <a:off x="4617720" y="4334256"/>
            <a:ext cx="4114800" cy="2194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4672584" y="4334256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650" dirty="0"/>
          </a:p>
        </p:txBody>
      </p:sp>
      <p:sp>
        <p:nvSpPr>
          <p:cNvPr id="112" name="Text 110"/>
          <p:cNvSpPr/>
          <p:nvPr/>
        </p:nvSpPr>
        <p:spPr>
          <a:xfrm>
            <a:off x="5129784" y="4334256"/>
            <a:ext cx="18105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/rubric/:id</a:t>
            </a:r>
            <a:endParaRPr lang="en-US" sz="700" dirty="0"/>
          </a:p>
        </p:txBody>
      </p:sp>
      <p:sp>
        <p:nvSpPr>
          <p:cNvPr id="113" name="Text 111"/>
          <p:cNvSpPr/>
          <p:nvPr/>
        </p:nvSpPr>
        <p:spPr>
          <a:xfrm>
            <a:off x="6940296" y="4334256"/>
            <a:ext cx="17922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Create rubric</a:t>
            </a:r>
            <a:endParaRPr lang="en-US" sz="650" dirty="0"/>
          </a:p>
        </p:txBody>
      </p:sp>
      <p:sp>
        <p:nvSpPr>
          <p:cNvPr id="114" name="Shape 112"/>
          <p:cNvSpPr/>
          <p:nvPr/>
        </p:nvSpPr>
        <p:spPr>
          <a:xfrm>
            <a:off x="4617720" y="4572000"/>
            <a:ext cx="411480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4672584" y="4572000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650" dirty="0"/>
          </a:p>
        </p:txBody>
      </p:sp>
      <p:sp>
        <p:nvSpPr>
          <p:cNvPr id="116" name="Text 114"/>
          <p:cNvSpPr/>
          <p:nvPr/>
        </p:nvSpPr>
        <p:spPr>
          <a:xfrm>
            <a:off x="5129784" y="4572000"/>
            <a:ext cx="18105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/rubric/:id</a:t>
            </a:r>
            <a:endParaRPr lang="en-US" sz="700" dirty="0"/>
          </a:p>
        </p:txBody>
      </p:sp>
      <p:sp>
        <p:nvSpPr>
          <p:cNvPr id="117" name="Text 115"/>
          <p:cNvSpPr/>
          <p:nvPr/>
        </p:nvSpPr>
        <p:spPr>
          <a:xfrm>
            <a:off x="6940296" y="4572000"/>
            <a:ext cx="17922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Get rubric</a:t>
            </a:r>
            <a:endParaRPr lang="en-US" sz="650" dirty="0"/>
          </a:p>
        </p:txBody>
      </p:sp>
      <p:sp>
        <p:nvSpPr>
          <p:cNvPr id="118" name="Shape 116"/>
          <p:cNvSpPr/>
          <p:nvPr/>
        </p:nvSpPr>
        <p:spPr>
          <a:xfrm>
            <a:off x="4617720" y="4809744"/>
            <a:ext cx="4114800" cy="2194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4672584" y="4809744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</a:t>
            </a:r>
            <a:endParaRPr lang="en-US" sz="650" dirty="0"/>
          </a:p>
        </p:txBody>
      </p:sp>
      <p:sp>
        <p:nvSpPr>
          <p:cNvPr id="120" name="Text 118"/>
          <p:cNvSpPr/>
          <p:nvPr/>
        </p:nvSpPr>
        <p:spPr>
          <a:xfrm>
            <a:off x="5129784" y="4809744"/>
            <a:ext cx="18105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/rubric/:id/evaluate</a:t>
            </a:r>
            <a:endParaRPr lang="en-US" sz="700" dirty="0"/>
          </a:p>
        </p:txBody>
      </p:sp>
      <p:sp>
        <p:nvSpPr>
          <p:cNvPr id="121" name="Text 119"/>
          <p:cNvSpPr/>
          <p:nvPr/>
        </p:nvSpPr>
        <p:spPr>
          <a:xfrm>
            <a:off x="6940296" y="4809744"/>
            <a:ext cx="17922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Submit evaluation</a:t>
            </a:r>
            <a:endParaRPr lang="en-US" sz="650" dirty="0"/>
          </a:p>
        </p:txBody>
      </p:sp>
      <p:sp>
        <p:nvSpPr>
          <p:cNvPr id="122" name="Shape 120"/>
          <p:cNvSpPr/>
          <p:nvPr/>
        </p:nvSpPr>
        <p:spPr>
          <a:xfrm>
            <a:off x="4617720" y="5047488"/>
            <a:ext cx="411480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4672584" y="5047488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650" dirty="0"/>
          </a:p>
        </p:txBody>
      </p:sp>
      <p:sp>
        <p:nvSpPr>
          <p:cNvPr id="124" name="Text 122"/>
          <p:cNvSpPr/>
          <p:nvPr/>
        </p:nvSpPr>
        <p:spPr>
          <a:xfrm>
            <a:off x="5129784" y="5047488"/>
            <a:ext cx="18105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/pins/:id</a:t>
            </a:r>
            <a:endParaRPr lang="en-US" sz="700" dirty="0"/>
          </a:p>
        </p:txBody>
      </p:sp>
      <p:sp>
        <p:nvSpPr>
          <p:cNvPr id="125" name="Text 123"/>
          <p:cNvSpPr/>
          <p:nvPr/>
        </p:nvSpPr>
        <p:spPr>
          <a:xfrm>
            <a:off x="6940296" y="5047488"/>
            <a:ext cx="17922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Resource pins for meeting</a:t>
            </a:r>
            <a:endParaRPr lang="en-US" sz="650" dirty="0"/>
          </a:p>
        </p:txBody>
      </p:sp>
      <p:sp>
        <p:nvSpPr>
          <p:cNvPr id="126" name="Shape 124"/>
          <p:cNvSpPr/>
          <p:nvPr/>
        </p:nvSpPr>
        <p:spPr>
          <a:xfrm>
            <a:off x="4617720" y="5285232"/>
            <a:ext cx="4114800" cy="2194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4672584" y="5285232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650" dirty="0"/>
          </a:p>
        </p:txBody>
      </p:sp>
      <p:sp>
        <p:nvSpPr>
          <p:cNvPr id="128" name="Text 126"/>
          <p:cNvSpPr/>
          <p:nvPr/>
        </p:nvSpPr>
        <p:spPr>
          <a:xfrm>
            <a:off x="5129784" y="5285232"/>
            <a:ext cx="18105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/pins/:id</a:t>
            </a:r>
            <a:endParaRPr lang="en-US" sz="700" dirty="0"/>
          </a:p>
        </p:txBody>
      </p:sp>
      <p:sp>
        <p:nvSpPr>
          <p:cNvPr id="129" name="Text 127"/>
          <p:cNvSpPr/>
          <p:nvPr/>
        </p:nvSpPr>
        <p:spPr>
          <a:xfrm>
            <a:off x="6940296" y="5285232"/>
            <a:ext cx="17922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Create pin</a:t>
            </a:r>
            <a:endParaRPr lang="en-US" sz="650" dirty="0"/>
          </a:p>
        </p:txBody>
      </p:sp>
      <p:sp>
        <p:nvSpPr>
          <p:cNvPr id="130" name="Shape 128"/>
          <p:cNvSpPr/>
          <p:nvPr/>
        </p:nvSpPr>
        <p:spPr>
          <a:xfrm>
            <a:off x="4617720" y="5522976"/>
            <a:ext cx="411480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4672584" y="5522976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E11D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endParaRPr lang="en-US" sz="650" dirty="0"/>
          </a:p>
        </p:txBody>
      </p:sp>
      <p:sp>
        <p:nvSpPr>
          <p:cNvPr id="132" name="Text 130"/>
          <p:cNvSpPr/>
          <p:nvPr/>
        </p:nvSpPr>
        <p:spPr>
          <a:xfrm>
            <a:off x="5129784" y="5522976"/>
            <a:ext cx="18105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/pins/:id</a:t>
            </a:r>
            <a:endParaRPr lang="en-US" sz="700" dirty="0"/>
          </a:p>
        </p:txBody>
      </p:sp>
      <p:sp>
        <p:nvSpPr>
          <p:cNvPr id="133" name="Text 131"/>
          <p:cNvSpPr/>
          <p:nvPr/>
        </p:nvSpPr>
        <p:spPr>
          <a:xfrm>
            <a:off x="6940296" y="5522976"/>
            <a:ext cx="17922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Remove pin</a:t>
            </a:r>
            <a:endParaRPr lang="en-US" sz="650" dirty="0"/>
          </a:p>
        </p:txBody>
      </p:sp>
      <p:sp>
        <p:nvSpPr>
          <p:cNvPr id="134" name="Shape 132"/>
          <p:cNvSpPr/>
          <p:nvPr/>
        </p:nvSpPr>
        <p:spPr>
          <a:xfrm>
            <a:off x="411480" y="4709160"/>
            <a:ext cx="4114800" cy="283464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5" name="Text 133"/>
          <p:cNvSpPr/>
          <p:nvPr/>
        </p:nvSpPr>
        <p:spPr>
          <a:xfrm>
            <a:off x="411480" y="4709160"/>
            <a:ext cx="4114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/api/profile  ·  /api/dashboard</a:t>
            </a:r>
            <a:endParaRPr lang="en-US" sz="950" dirty="0"/>
          </a:p>
        </p:txBody>
      </p:sp>
      <p:sp>
        <p:nvSpPr>
          <p:cNvPr id="136" name="Shape 134"/>
          <p:cNvSpPr/>
          <p:nvPr/>
        </p:nvSpPr>
        <p:spPr>
          <a:xfrm>
            <a:off x="411480" y="4992624"/>
            <a:ext cx="411480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466344" y="4992624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</a:t>
            </a:r>
            <a:endParaRPr lang="en-US" sz="650" dirty="0"/>
          </a:p>
        </p:txBody>
      </p:sp>
      <p:sp>
        <p:nvSpPr>
          <p:cNvPr id="138" name="Text 136"/>
          <p:cNvSpPr/>
          <p:nvPr/>
        </p:nvSpPr>
        <p:spPr>
          <a:xfrm>
            <a:off x="923544" y="4992624"/>
            <a:ext cx="18105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/profile/name</a:t>
            </a:r>
            <a:endParaRPr lang="en-US" sz="700" dirty="0"/>
          </a:p>
        </p:txBody>
      </p:sp>
      <p:sp>
        <p:nvSpPr>
          <p:cNvPr id="139" name="Text 137"/>
          <p:cNvSpPr/>
          <p:nvPr/>
        </p:nvSpPr>
        <p:spPr>
          <a:xfrm>
            <a:off x="2734056" y="4992624"/>
            <a:ext cx="17922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Update display name</a:t>
            </a:r>
            <a:endParaRPr lang="en-US" sz="650" dirty="0"/>
          </a:p>
        </p:txBody>
      </p:sp>
      <p:sp>
        <p:nvSpPr>
          <p:cNvPr id="140" name="Shape 138"/>
          <p:cNvSpPr/>
          <p:nvPr/>
        </p:nvSpPr>
        <p:spPr>
          <a:xfrm>
            <a:off x="411480" y="5230368"/>
            <a:ext cx="4114800" cy="2194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466344" y="5230368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</a:t>
            </a:r>
            <a:endParaRPr lang="en-US" sz="650" dirty="0"/>
          </a:p>
        </p:txBody>
      </p:sp>
      <p:sp>
        <p:nvSpPr>
          <p:cNvPr id="142" name="Text 140"/>
          <p:cNvSpPr/>
          <p:nvPr/>
        </p:nvSpPr>
        <p:spPr>
          <a:xfrm>
            <a:off x="923544" y="5230368"/>
            <a:ext cx="18105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/profile/email</a:t>
            </a:r>
            <a:endParaRPr lang="en-US" sz="700" dirty="0"/>
          </a:p>
        </p:txBody>
      </p:sp>
      <p:sp>
        <p:nvSpPr>
          <p:cNvPr id="143" name="Text 141"/>
          <p:cNvSpPr/>
          <p:nvPr/>
        </p:nvSpPr>
        <p:spPr>
          <a:xfrm>
            <a:off x="2734056" y="5230368"/>
            <a:ext cx="17922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Update email</a:t>
            </a:r>
            <a:endParaRPr lang="en-US" sz="650" dirty="0"/>
          </a:p>
        </p:txBody>
      </p:sp>
      <p:sp>
        <p:nvSpPr>
          <p:cNvPr id="144" name="Shape 142"/>
          <p:cNvSpPr/>
          <p:nvPr/>
        </p:nvSpPr>
        <p:spPr>
          <a:xfrm>
            <a:off x="411480" y="5468112"/>
            <a:ext cx="411480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466344" y="5468112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</a:t>
            </a:r>
            <a:endParaRPr lang="en-US" sz="650" dirty="0"/>
          </a:p>
        </p:txBody>
      </p:sp>
      <p:sp>
        <p:nvSpPr>
          <p:cNvPr id="146" name="Text 144"/>
          <p:cNvSpPr/>
          <p:nvPr/>
        </p:nvSpPr>
        <p:spPr>
          <a:xfrm>
            <a:off x="923544" y="5468112"/>
            <a:ext cx="18105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/profile/password</a:t>
            </a:r>
            <a:endParaRPr lang="en-US" sz="700" dirty="0"/>
          </a:p>
        </p:txBody>
      </p:sp>
      <p:sp>
        <p:nvSpPr>
          <p:cNvPr id="147" name="Text 145"/>
          <p:cNvSpPr/>
          <p:nvPr/>
        </p:nvSpPr>
        <p:spPr>
          <a:xfrm>
            <a:off x="2734056" y="5468112"/>
            <a:ext cx="17922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Change password</a:t>
            </a:r>
            <a:endParaRPr lang="en-US" sz="650" dirty="0"/>
          </a:p>
        </p:txBody>
      </p:sp>
      <p:sp>
        <p:nvSpPr>
          <p:cNvPr id="148" name="Shape 146"/>
          <p:cNvSpPr/>
          <p:nvPr/>
        </p:nvSpPr>
        <p:spPr>
          <a:xfrm>
            <a:off x="411480" y="5705856"/>
            <a:ext cx="4114800" cy="2194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466344" y="5705856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650" dirty="0"/>
          </a:p>
        </p:txBody>
      </p:sp>
      <p:sp>
        <p:nvSpPr>
          <p:cNvPr id="150" name="Text 148"/>
          <p:cNvSpPr/>
          <p:nvPr/>
        </p:nvSpPr>
        <p:spPr>
          <a:xfrm>
            <a:off x="923544" y="5705856"/>
            <a:ext cx="18105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/profile/avatar</a:t>
            </a:r>
            <a:endParaRPr lang="en-US" sz="700" dirty="0"/>
          </a:p>
        </p:txBody>
      </p:sp>
      <p:sp>
        <p:nvSpPr>
          <p:cNvPr id="151" name="Text 149"/>
          <p:cNvSpPr/>
          <p:nvPr/>
        </p:nvSpPr>
        <p:spPr>
          <a:xfrm>
            <a:off x="2734056" y="5705856"/>
            <a:ext cx="17922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Upload avatar image</a:t>
            </a:r>
            <a:endParaRPr lang="en-US" sz="650" dirty="0"/>
          </a:p>
        </p:txBody>
      </p:sp>
      <p:sp>
        <p:nvSpPr>
          <p:cNvPr id="152" name="Shape 150"/>
          <p:cNvSpPr/>
          <p:nvPr/>
        </p:nvSpPr>
        <p:spPr>
          <a:xfrm>
            <a:off x="411480" y="5943600"/>
            <a:ext cx="411480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466344" y="5943600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650" dirty="0"/>
          </a:p>
        </p:txBody>
      </p:sp>
      <p:sp>
        <p:nvSpPr>
          <p:cNvPr id="154" name="Text 152"/>
          <p:cNvSpPr/>
          <p:nvPr/>
        </p:nvSpPr>
        <p:spPr>
          <a:xfrm>
            <a:off x="923544" y="5943600"/>
            <a:ext cx="18105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/profile/avatar/:id</a:t>
            </a:r>
            <a:endParaRPr lang="en-US" sz="700" dirty="0"/>
          </a:p>
        </p:txBody>
      </p:sp>
      <p:sp>
        <p:nvSpPr>
          <p:cNvPr id="155" name="Text 153"/>
          <p:cNvSpPr/>
          <p:nvPr/>
        </p:nvSpPr>
        <p:spPr>
          <a:xfrm>
            <a:off x="2734056" y="5943600"/>
            <a:ext cx="17922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Serve avatar</a:t>
            </a:r>
            <a:endParaRPr lang="en-US" sz="650" dirty="0"/>
          </a:p>
        </p:txBody>
      </p:sp>
      <p:sp>
        <p:nvSpPr>
          <p:cNvPr id="156" name="Shape 154"/>
          <p:cNvSpPr/>
          <p:nvPr/>
        </p:nvSpPr>
        <p:spPr>
          <a:xfrm>
            <a:off x="411480" y="6181344"/>
            <a:ext cx="4114800" cy="2194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466344" y="6181344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E11D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endParaRPr lang="en-US" sz="650" dirty="0"/>
          </a:p>
        </p:txBody>
      </p:sp>
      <p:sp>
        <p:nvSpPr>
          <p:cNvPr id="158" name="Text 156"/>
          <p:cNvSpPr/>
          <p:nvPr/>
        </p:nvSpPr>
        <p:spPr>
          <a:xfrm>
            <a:off x="923544" y="6181344"/>
            <a:ext cx="18105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/profile/avatar</a:t>
            </a:r>
            <a:endParaRPr lang="en-US" sz="700" dirty="0"/>
          </a:p>
        </p:txBody>
      </p:sp>
      <p:sp>
        <p:nvSpPr>
          <p:cNvPr id="159" name="Text 157"/>
          <p:cNvSpPr/>
          <p:nvPr/>
        </p:nvSpPr>
        <p:spPr>
          <a:xfrm>
            <a:off x="2734056" y="6181344"/>
            <a:ext cx="17922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Remove avatar</a:t>
            </a:r>
            <a:endParaRPr lang="en-US" sz="650" dirty="0"/>
          </a:p>
        </p:txBody>
      </p:sp>
      <p:sp>
        <p:nvSpPr>
          <p:cNvPr id="160" name="Shape 158"/>
          <p:cNvSpPr/>
          <p:nvPr/>
        </p:nvSpPr>
        <p:spPr>
          <a:xfrm>
            <a:off x="411480" y="6419088"/>
            <a:ext cx="411480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466344" y="6419088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E11D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endParaRPr lang="en-US" sz="650" dirty="0"/>
          </a:p>
        </p:txBody>
      </p:sp>
      <p:sp>
        <p:nvSpPr>
          <p:cNvPr id="162" name="Text 160"/>
          <p:cNvSpPr/>
          <p:nvPr/>
        </p:nvSpPr>
        <p:spPr>
          <a:xfrm>
            <a:off x="923544" y="6419088"/>
            <a:ext cx="18105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/profile/account</a:t>
            </a:r>
            <a:endParaRPr lang="en-US" sz="700" dirty="0"/>
          </a:p>
        </p:txBody>
      </p:sp>
      <p:sp>
        <p:nvSpPr>
          <p:cNvPr id="163" name="Text 161"/>
          <p:cNvSpPr/>
          <p:nvPr/>
        </p:nvSpPr>
        <p:spPr>
          <a:xfrm>
            <a:off x="2734056" y="6419088"/>
            <a:ext cx="17922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Delete account</a:t>
            </a:r>
            <a:endParaRPr lang="en-US" sz="650" dirty="0"/>
          </a:p>
        </p:txBody>
      </p:sp>
      <p:sp>
        <p:nvSpPr>
          <p:cNvPr id="164" name="Shape 162"/>
          <p:cNvSpPr/>
          <p:nvPr/>
        </p:nvSpPr>
        <p:spPr>
          <a:xfrm>
            <a:off x="411480" y="6656832"/>
            <a:ext cx="4114800" cy="2194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466344" y="6656832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650" dirty="0"/>
          </a:p>
        </p:txBody>
      </p:sp>
      <p:sp>
        <p:nvSpPr>
          <p:cNvPr id="166" name="Text 164"/>
          <p:cNvSpPr/>
          <p:nvPr/>
        </p:nvSpPr>
        <p:spPr>
          <a:xfrm>
            <a:off x="923544" y="6656832"/>
            <a:ext cx="18105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/dashboard/stats</a:t>
            </a:r>
            <a:endParaRPr lang="en-US" sz="700" dirty="0"/>
          </a:p>
        </p:txBody>
      </p:sp>
      <p:sp>
        <p:nvSpPr>
          <p:cNvPr id="167" name="Text 165"/>
          <p:cNvSpPr/>
          <p:nvPr/>
        </p:nvSpPr>
        <p:spPr>
          <a:xfrm>
            <a:off x="2734056" y="6656832"/>
            <a:ext cx="17922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Productivity statistics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</a:rPr>
              <a:t>MongoDB Data Models — 16 Collections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832104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804672"/>
            <a:ext cx="274320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804672"/>
            <a:ext cx="228600" cy="67665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832104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Meeting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04088" y="103327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475569"/>
                </a:solidFill>
              </a:rPr>
              <a:t>id (slug), title, modality, date, time, confirmedDate, confirmedTime, durationMinutes, location, host, hostId, participants[], pollId, status, jitsiUrl, isPersonalRoom, tags[], tagColors, description, pinnedChat</a:t>
            </a:r>
            <a:endParaRPr lang="en-US" sz="620" dirty="0"/>
          </a:p>
        </p:txBody>
      </p:sp>
      <p:sp>
        <p:nvSpPr>
          <p:cNvPr id="8" name="Shape 6"/>
          <p:cNvSpPr/>
          <p:nvPr/>
        </p:nvSpPr>
        <p:spPr>
          <a:xfrm>
            <a:off x="704088" y="1325880"/>
            <a:ext cx="2377440" cy="1371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2376" y="1325880"/>
            <a:ext cx="2340864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475569"/>
                </a:solidFill>
              </a:rPr>
              <a:t>idx: status+createdAt, title text, hostId, participants</a:t>
            </a:r>
            <a:endParaRPr lang="en-US" sz="580" dirty="0"/>
          </a:p>
        </p:txBody>
      </p:sp>
      <p:sp>
        <p:nvSpPr>
          <p:cNvPr id="10" name="Shape 8"/>
          <p:cNvSpPr/>
          <p:nvPr/>
        </p:nvSpPr>
        <p:spPr>
          <a:xfrm>
            <a:off x="3246120" y="804672"/>
            <a:ext cx="274320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804672"/>
            <a:ext cx="228600" cy="67665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38728" y="832104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User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538728" y="103327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475569"/>
                </a:solidFill>
              </a:rPr>
              <a:t>name, email, password (bcrypt), profileImage, archivedMeetingPins[]</a:t>
            </a:r>
            <a:endParaRPr lang="en-US" sz="620" dirty="0"/>
          </a:p>
        </p:txBody>
      </p:sp>
      <p:sp>
        <p:nvSpPr>
          <p:cNvPr id="14" name="Shape 12"/>
          <p:cNvSpPr/>
          <p:nvPr/>
        </p:nvSpPr>
        <p:spPr>
          <a:xfrm>
            <a:off x="3538728" y="1325880"/>
            <a:ext cx="2377440" cy="1371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57016" y="1325880"/>
            <a:ext cx="2340864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475569"/>
                </a:solidFill>
              </a:rPr>
              <a:t>idx: email unique</a:t>
            </a:r>
            <a:endParaRPr lang="en-US" sz="580" dirty="0"/>
          </a:p>
        </p:txBody>
      </p:sp>
      <p:sp>
        <p:nvSpPr>
          <p:cNvPr id="16" name="Shape 14"/>
          <p:cNvSpPr/>
          <p:nvPr/>
        </p:nvSpPr>
        <p:spPr>
          <a:xfrm>
            <a:off x="6080760" y="804672"/>
            <a:ext cx="274320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0760" y="804672"/>
            <a:ext cx="228600" cy="67665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73368" y="832104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Transcript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373368" y="103327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475569"/>
                </a:solidFill>
              </a:rPr>
              <a:t>meetingId, agendaItemId, speaker, speakerImage, text, timestamp, startTime, endTime, sentiment, languageCode</a:t>
            </a:r>
            <a:endParaRPr lang="en-US" sz="620" dirty="0"/>
          </a:p>
        </p:txBody>
      </p:sp>
      <p:sp>
        <p:nvSpPr>
          <p:cNvPr id="20" name="Shape 18"/>
          <p:cNvSpPr/>
          <p:nvPr/>
        </p:nvSpPr>
        <p:spPr>
          <a:xfrm>
            <a:off x="6373368" y="1325880"/>
            <a:ext cx="2377440" cy="1371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91656" y="1325880"/>
            <a:ext cx="2340864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475569"/>
                </a:solidFill>
              </a:rPr>
              <a:t>idx: meetingId+startTime+createdAt, meetingId+speaker, meetingId+text(text)</a:t>
            </a:r>
            <a:endParaRPr lang="en-US" sz="580" dirty="0"/>
          </a:p>
        </p:txBody>
      </p:sp>
      <p:sp>
        <p:nvSpPr>
          <p:cNvPr id="22" name="Shape 20"/>
          <p:cNvSpPr/>
          <p:nvPr/>
        </p:nvSpPr>
        <p:spPr>
          <a:xfrm>
            <a:off x="411480" y="1536192"/>
            <a:ext cx="274320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11480" y="1536192"/>
            <a:ext cx="228600" cy="67665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4088" y="1563624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Task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04088" y="176479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475569"/>
                </a:solidFill>
              </a:rPr>
              <a:t>meetingId, title, assignee (ref User), assignees[] (ref User), assigneeName, category, status, deadline, source, aiConfidence, agendaItemId</a:t>
            </a:r>
            <a:endParaRPr lang="en-US" sz="620" dirty="0"/>
          </a:p>
        </p:txBody>
      </p:sp>
      <p:sp>
        <p:nvSpPr>
          <p:cNvPr id="26" name="Shape 24"/>
          <p:cNvSpPr/>
          <p:nvPr/>
        </p:nvSpPr>
        <p:spPr>
          <a:xfrm>
            <a:off x="704088" y="2057400"/>
            <a:ext cx="2377440" cy="1371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2376" y="2057400"/>
            <a:ext cx="2340864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475569"/>
                </a:solidFill>
              </a:rPr>
              <a:t>idx: meetingId, assignee, assignees</a:t>
            </a:r>
            <a:endParaRPr lang="en-US" sz="580" dirty="0"/>
          </a:p>
        </p:txBody>
      </p:sp>
      <p:sp>
        <p:nvSpPr>
          <p:cNvPr id="28" name="Shape 26"/>
          <p:cNvSpPr/>
          <p:nvPr/>
        </p:nvSpPr>
        <p:spPr>
          <a:xfrm>
            <a:off x="3246120" y="1536192"/>
            <a:ext cx="274320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46120" y="1536192"/>
            <a:ext cx="228600" cy="676656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38728" y="1563624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Notification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538728" y="176479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475569"/>
                </a:solidFill>
              </a:rPr>
              <a:t>userId, type (enum: 14 types), meetingId, message, read</a:t>
            </a:r>
            <a:endParaRPr lang="en-US" sz="620" dirty="0"/>
          </a:p>
        </p:txBody>
      </p:sp>
      <p:sp>
        <p:nvSpPr>
          <p:cNvPr id="32" name="Shape 30"/>
          <p:cNvSpPr/>
          <p:nvPr/>
        </p:nvSpPr>
        <p:spPr>
          <a:xfrm>
            <a:off x="3538728" y="2057400"/>
            <a:ext cx="2377440" cy="1371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57016" y="2057400"/>
            <a:ext cx="2340864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475569"/>
                </a:solidFill>
              </a:rPr>
              <a:t>idx: userId+createdAt, userId+read</a:t>
            </a:r>
            <a:endParaRPr lang="en-US" sz="580" dirty="0"/>
          </a:p>
        </p:txBody>
      </p:sp>
      <p:sp>
        <p:nvSpPr>
          <p:cNvPr id="34" name="Shape 32"/>
          <p:cNvSpPr/>
          <p:nvPr/>
        </p:nvSpPr>
        <p:spPr>
          <a:xfrm>
            <a:off x="6080760" y="1536192"/>
            <a:ext cx="274320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80760" y="1536192"/>
            <a:ext cx="228600" cy="67665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73368" y="1563624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Agenda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373368" y="176479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475569"/>
                </a:solidFill>
              </a:rPr>
              <a:t>meetingId, items[]: { id, title, duration, status, presenter, notes }</a:t>
            </a:r>
            <a:endParaRPr lang="en-US" sz="620" dirty="0"/>
          </a:p>
        </p:txBody>
      </p:sp>
      <p:sp>
        <p:nvSpPr>
          <p:cNvPr id="38" name="Shape 36"/>
          <p:cNvSpPr/>
          <p:nvPr/>
        </p:nvSpPr>
        <p:spPr>
          <a:xfrm>
            <a:off x="6373368" y="2057400"/>
            <a:ext cx="2377440" cy="1371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91656" y="2057400"/>
            <a:ext cx="2340864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475569"/>
                </a:solidFill>
              </a:rPr>
              <a:t>idx: meetingId</a:t>
            </a:r>
            <a:endParaRPr lang="en-US" sz="580" dirty="0"/>
          </a:p>
        </p:txBody>
      </p:sp>
      <p:sp>
        <p:nvSpPr>
          <p:cNvPr id="40" name="Shape 38"/>
          <p:cNvSpPr/>
          <p:nvPr/>
        </p:nvSpPr>
        <p:spPr>
          <a:xfrm>
            <a:off x="411480" y="2267712"/>
            <a:ext cx="274320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11480" y="2267712"/>
            <a:ext cx="228600" cy="67665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04088" y="2295144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Minutes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04088" y="249631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475569"/>
                </a:solidFill>
              </a:rPr>
              <a:t>meetingId, items[]: { id, text, type, status, assignee, dueDate, completedAt }</a:t>
            </a:r>
            <a:endParaRPr lang="en-US" sz="620" dirty="0"/>
          </a:p>
        </p:txBody>
      </p:sp>
      <p:sp>
        <p:nvSpPr>
          <p:cNvPr id="44" name="Shape 42"/>
          <p:cNvSpPr/>
          <p:nvPr/>
        </p:nvSpPr>
        <p:spPr>
          <a:xfrm>
            <a:off x="704088" y="2788920"/>
            <a:ext cx="2377440" cy="1371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22376" y="2788920"/>
            <a:ext cx="2340864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475569"/>
                </a:solidFill>
              </a:rPr>
              <a:t>idx: meetingId</a:t>
            </a:r>
            <a:endParaRPr lang="en-US" sz="580" dirty="0"/>
          </a:p>
        </p:txBody>
      </p:sp>
      <p:sp>
        <p:nvSpPr>
          <p:cNvPr id="46" name="Shape 44"/>
          <p:cNvSpPr/>
          <p:nvPr/>
        </p:nvSpPr>
        <p:spPr>
          <a:xfrm>
            <a:off x="3246120" y="2267712"/>
            <a:ext cx="274320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246120" y="2267712"/>
            <a:ext cx="228600" cy="6766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538728" y="2295144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Poll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3538728" y="249631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475569"/>
                </a:solidFill>
              </a:rPr>
              <a:t>meetingId, slots[]: { date, time, votes[] }, status, confirmedSlot</a:t>
            </a:r>
            <a:endParaRPr lang="en-US" sz="620" dirty="0"/>
          </a:p>
        </p:txBody>
      </p:sp>
      <p:sp>
        <p:nvSpPr>
          <p:cNvPr id="50" name="Shape 48"/>
          <p:cNvSpPr/>
          <p:nvPr/>
        </p:nvSpPr>
        <p:spPr>
          <a:xfrm>
            <a:off x="3538728" y="2788920"/>
            <a:ext cx="2377440" cy="1371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557016" y="2788920"/>
            <a:ext cx="2340864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475569"/>
                </a:solidFill>
              </a:rPr>
              <a:t>idx: meetingId</a:t>
            </a:r>
            <a:endParaRPr lang="en-US" sz="580" dirty="0"/>
          </a:p>
        </p:txBody>
      </p:sp>
      <p:sp>
        <p:nvSpPr>
          <p:cNvPr id="52" name="Shape 50"/>
          <p:cNvSpPr/>
          <p:nvPr/>
        </p:nvSpPr>
        <p:spPr>
          <a:xfrm>
            <a:off x="6080760" y="2267712"/>
            <a:ext cx="274320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080760" y="2267712"/>
            <a:ext cx="228600" cy="67665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73368" y="2295144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ChatMessage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373368" y="249631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475569"/>
                </a:solidFill>
              </a:rPr>
              <a:t>meetingId, senderId, senderName, senderImage, text, timestamp, pinned, pinnedAt</a:t>
            </a:r>
            <a:endParaRPr lang="en-US" sz="620" dirty="0"/>
          </a:p>
        </p:txBody>
      </p:sp>
      <p:sp>
        <p:nvSpPr>
          <p:cNvPr id="56" name="Shape 54"/>
          <p:cNvSpPr/>
          <p:nvPr/>
        </p:nvSpPr>
        <p:spPr>
          <a:xfrm>
            <a:off x="6373368" y="2788920"/>
            <a:ext cx="2377440" cy="1371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391656" y="2788920"/>
            <a:ext cx="2340864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475569"/>
                </a:solidFill>
              </a:rPr>
              <a:t>idx: meetingId+timestamp</a:t>
            </a:r>
            <a:endParaRPr lang="en-US" sz="580" dirty="0"/>
          </a:p>
        </p:txBody>
      </p:sp>
      <p:sp>
        <p:nvSpPr>
          <p:cNvPr id="58" name="Shape 56"/>
          <p:cNvSpPr/>
          <p:nvPr/>
        </p:nvSpPr>
        <p:spPr>
          <a:xfrm>
            <a:off x="411480" y="2999232"/>
            <a:ext cx="274320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411480" y="2999232"/>
            <a:ext cx="228600" cy="67665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04088" y="3026664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Attendance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704088" y="322783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475569"/>
                </a:solidFill>
              </a:rPr>
              <a:t>meetingId, userId, name, email, markedAt, qrToken</a:t>
            </a:r>
            <a:endParaRPr lang="en-US" sz="620" dirty="0"/>
          </a:p>
        </p:txBody>
      </p:sp>
      <p:sp>
        <p:nvSpPr>
          <p:cNvPr id="62" name="Shape 60"/>
          <p:cNvSpPr/>
          <p:nvPr/>
        </p:nvSpPr>
        <p:spPr>
          <a:xfrm>
            <a:off x="704088" y="3520440"/>
            <a:ext cx="2377440" cy="1371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22376" y="3520440"/>
            <a:ext cx="2340864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475569"/>
                </a:solidFill>
              </a:rPr>
              <a:t>idx: meetingId, meetingId+userId unique</a:t>
            </a:r>
            <a:endParaRPr lang="en-US" sz="580" dirty="0"/>
          </a:p>
        </p:txBody>
      </p:sp>
      <p:sp>
        <p:nvSpPr>
          <p:cNvPr id="64" name="Shape 62"/>
          <p:cNvSpPr/>
          <p:nvPr/>
        </p:nvSpPr>
        <p:spPr>
          <a:xfrm>
            <a:off x="3246120" y="2999232"/>
            <a:ext cx="274320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3246120" y="2999232"/>
            <a:ext cx="228600" cy="676656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538728" y="3026664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ResourcePin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3538728" y="322783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475569"/>
                </a:solidFill>
              </a:rPr>
              <a:t>meetingId, userId, type, title, url, description, createdAt</a:t>
            </a:r>
            <a:endParaRPr lang="en-US" sz="620" dirty="0"/>
          </a:p>
        </p:txBody>
      </p:sp>
      <p:sp>
        <p:nvSpPr>
          <p:cNvPr id="68" name="Shape 66"/>
          <p:cNvSpPr/>
          <p:nvPr/>
        </p:nvSpPr>
        <p:spPr>
          <a:xfrm>
            <a:off x="3538728" y="3520440"/>
            <a:ext cx="2377440" cy="1371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557016" y="3520440"/>
            <a:ext cx="2340864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475569"/>
                </a:solidFill>
              </a:rPr>
              <a:t>idx: meetingId</a:t>
            </a:r>
            <a:endParaRPr lang="en-US" sz="580" dirty="0"/>
          </a:p>
        </p:txBody>
      </p:sp>
      <p:sp>
        <p:nvSpPr>
          <p:cNvPr id="70" name="Shape 68"/>
          <p:cNvSpPr/>
          <p:nvPr/>
        </p:nvSpPr>
        <p:spPr>
          <a:xfrm>
            <a:off x="6080760" y="2999232"/>
            <a:ext cx="274320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6080760" y="2999232"/>
            <a:ext cx="228600" cy="67665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373368" y="3026664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Rubric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6373368" y="322783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475569"/>
                </a:solidFill>
              </a:rPr>
              <a:t>meetingId, criteria[], evaluations[]: { userId, scores[], feedback }</a:t>
            </a:r>
            <a:endParaRPr lang="en-US" sz="620" dirty="0"/>
          </a:p>
        </p:txBody>
      </p:sp>
      <p:sp>
        <p:nvSpPr>
          <p:cNvPr id="74" name="Shape 72"/>
          <p:cNvSpPr/>
          <p:nvPr/>
        </p:nvSpPr>
        <p:spPr>
          <a:xfrm>
            <a:off x="6373368" y="3520440"/>
            <a:ext cx="2377440" cy="1371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391656" y="3520440"/>
            <a:ext cx="2340864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475569"/>
                </a:solidFill>
              </a:rPr>
              <a:t>idx: meetingId</a:t>
            </a:r>
            <a:endParaRPr lang="en-US" sz="580" dirty="0"/>
          </a:p>
        </p:txBody>
      </p:sp>
      <p:sp>
        <p:nvSpPr>
          <p:cNvPr id="76" name="Shape 74"/>
          <p:cNvSpPr/>
          <p:nvPr/>
        </p:nvSpPr>
        <p:spPr>
          <a:xfrm>
            <a:off x="411480" y="3730752"/>
            <a:ext cx="274320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77" name="Shape 75"/>
          <p:cNvSpPr/>
          <p:nvPr/>
        </p:nvSpPr>
        <p:spPr>
          <a:xfrm>
            <a:off x="411480" y="3730752"/>
            <a:ext cx="228600" cy="67665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04088" y="3758184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MeetingSummary</a:t>
            </a:r>
            <a:endParaRPr lang="en-US" sz="950" dirty="0"/>
          </a:p>
        </p:txBody>
      </p:sp>
      <p:sp>
        <p:nvSpPr>
          <p:cNvPr id="79" name="Text 77"/>
          <p:cNvSpPr/>
          <p:nvPr/>
        </p:nvSpPr>
        <p:spPr>
          <a:xfrm>
            <a:off x="704088" y="395935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475569"/>
                </a:solidFill>
              </a:rPr>
              <a:t>meetingId, summaries{}, fullSummary, generatedAt</a:t>
            </a:r>
            <a:endParaRPr lang="en-US" sz="620" dirty="0"/>
          </a:p>
        </p:txBody>
      </p:sp>
      <p:sp>
        <p:nvSpPr>
          <p:cNvPr id="80" name="Shape 78"/>
          <p:cNvSpPr/>
          <p:nvPr/>
        </p:nvSpPr>
        <p:spPr>
          <a:xfrm>
            <a:off x="704088" y="4251960"/>
            <a:ext cx="2377440" cy="1371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22376" y="4251960"/>
            <a:ext cx="2340864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475569"/>
                </a:solidFill>
              </a:rPr>
              <a:t>idx: meetingId unique</a:t>
            </a:r>
            <a:endParaRPr lang="en-US" sz="580" dirty="0"/>
          </a:p>
        </p:txBody>
      </p:sp>
      <p:sp>
        <p:nvSpPr>
          <p:cNvPr id="82" name="Shape 80"/>
          <p:cNvSpPr/>
          <p:nvPr/>
        </p:nvSpPr>
        <p:spPr>
          <a:xfrm>
            <a:off x="3246120" y="3730752"/>
            <a:ext cx="274320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83" name="Shape 81"/>
          <p:cNvSpPr/>
          <p:nvPr/>
        </p:nvSpPr>
        <p:spPr>
          <a:xfrm>
            <a:off x="3246120" y="3730752"/>
            <a:ext cx="228600" cy="67665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538728" y="3758184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RSVP</a:t>
            </a:r>
            <a:endParaRPr lang="en-US" sz="950" dirty="0"/>
          </a:p>
        </p:txBody>
      </p:sp>
      <p:sp>
        <p:nvSpPr>
          <p:cNvPr id="85" name="Text 83"/>
          <p:cNvSpPr/>
          <p:nvPr/>
        </p:nvSpPr>
        <p:spPr>
          <a:xfrm>
            <a:off x="3538728" y="395935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475569"/>
                </a:solidFill>
              </a:rPr>
              <a:t>meetingId, userId, response (yes/no/maybe), respondedAt</a:t>
            </a:r>
            <a:endParaRPr lang="en-US" sz="620" dirty="0"/>
          </a:p>
        </p:txBody>
      </p:sp>
      <p:sp>
        <p:nvSpPr>
          <p:cNvPr id="86" name="Shape 84"/>
          <p:cNvSpPr/>
          <p:nvPr/>
        </p:nvSpPr>
        <p:spPr>
          <a:xfrm>
            <a:off x="3538728" y="4251960"/>
            <a:ext cx="2377440" cy="1371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557016" y="4251960"/>
            <a:ext cx="2340864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475569"/>
                </a:solidFill>
              </a:rPr>
              <a:t>idx: meetingId+userId unique</a:t>
            </a:r>
            <a:endParaRPr lang="en-US" sz="580" dirty="0"/>
          </a:p>
        </p:txBody>
      </p:sp>
      <p:sp>
        <p:nvSpPr>
          <p:cNvPr id="88" name="Shape 86"/>
          <p:cNvSpPr/>
          <p:nvPr/>
        </p:nvSpPr>
        <p:spPr>
          <a:xfrm>
            <a:off x="6080760" y="3730752"/>
            <a:ext cx="274320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89" name="Shape 87"/>
          <p:cNvSpPr/>
          <p:nvPr/>
        </p:nvSpPr>
        <p:spPr>
          <a:xfrm>
            <a:off x="6080760" y="3730752"/>
            <a:ext cx="228600" cy="67665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373368" y="3758184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Note</a:t>
            </a:r>
            <a:endParaRPr lang="en-US" sz="950" dirty="0"/>
          </a:p>
        </p:txBody>
      </p:sp>
      <p:sp>
        <p:nvSpPr>
          <p:cNvPr id="91" name="Text 89"/>
          <p:cNvSpPr/>
          <p:nvPr/>
        </p:nvSpPr>
        <p:spPr>
          <a:xfrm>
            <a:off x="6373368" y="395935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475569"/>
                </a:solidFill>
              </a:rPr>
              <a:t>meetingId, userId, content, updatedAt</a:t>
            </a:r>
            <a:endParaRPr lang="en-US" sz="620" dirty="0"/>
          </a:p>
        </p:txBody>
      </p:sp>
      <p:sp>
        <p:nvSpPr>
          <p:cNvPr id="92" name="Shape 90"/>
          <p:cNvSpPr/>
          <p:nvPr/>
        </p:nvSpPr>
        <p:spPr>
          <a:xfrm>
            <a:off x="6373368" y="4251960"/>
            <a:ext cx="2377440" cy="1371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391656" y="4251960"/>
            <a:ext cx="2340864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475569"/>
                </a:solidFill>
              </a:rPr>
              <a:t>idx: meetingId+userId</a:t>
            </a:r>
            <a:endParaRPr lang="en-US" sz="5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</a:rPr>
              <a:t>Real-time Layer — Socket.io Events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832104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777240"/>
            <a:ext cx="4160520" cy="2834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777240"/>
            <a:ext cx="4160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Room Management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11480" y="1060704"/>
            <a:ext cx="416052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060704"/>
            <a:ext cx="174741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join_room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232050" y="1060704"/>
            <a:ext cx="233995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Join WebRTC room, emit peers list, notify others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411480" y="1307592"/>
            <a:ext cx="4160520" cy="228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" y="1307592"/>
            <a:ext cx="174741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leave_room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232050" y="1307592"/>
            <a:ext cx="233995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Disconnect from room, notify peers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411480" y="1554480"/>
            <a:ext cx="416052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" y="1554480"/>
            <a:ext cx="174741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join_meeting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232050" y="1554480"/>
            <a:ext cx="233995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Register for meeting updates (non-WebRTC)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411480" y="1801368"/>
            <a:ext cx="4160520" cy="228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" y="1801368"/>
            <a:ext cx="174741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leave_meeting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232050" y="1801368"/>
            <a:ext cx="233995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Unregister from meeting updates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11480" y="2048256"/>
            <a:ext cx="416052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" y="2048256"/>
            <a:ext cx="174741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end_meeting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232050" y="2048256"/>
            <a:ext cx="233995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Host ends meeting, stops transcription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411480" y="2295144"/>
            <a:ext cx="4160520" cy="228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" y="2295144"/>
            <a:ext cx="174741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disconnect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2232050" y="2295144"/>
            <a:ext cx="233995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Auto-cleanup on socket disconnect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411480" y="2834640"/>
            <a:ext cx="4160520" cy="2834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11480" y="2834640"/>
            <a:ext cx="4160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WebRTC Signalling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1480" y="3118104"/>
            <a:ext cx="416052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" y="3118104"/>
            <a:ext cx="174741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signal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2232050" y="3118104"/>
            <a:ext cx="233995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Relay WebRTC SDP/ICE between peers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411480" y="3364992"/>
            <a:ext cx="4160520" cy="228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" y="3364992"/>
            <a:ext cx="174741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user_joined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232050" y="3364992"/>
            <a:ext cx="233995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Emitted to room when peer connects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411480" y="3611880"/>
            <a:ext cx="416052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" y="3611880"/>
            <a:ext cx="174741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user_left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2232050" y="3611880"/>
            <a:ext cx="233995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Emitted to room when peer leaves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4663440" y="777240"/>
            <a:ext cx="4069080" cy="2834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663440" y="777240"/>
            <a:ext cx="4069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Transcription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63440" y="1060704"/>
            <a:ext cx="406908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36592" y="1060704"/>
            <a:ext cx="170901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start_transcription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6445606" y="1060704"/>
            <a:ext cx="228691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Begin Deepgram stream for meeting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4663440" y="1307592"/>
            <a:ext cx="4069080" cy="228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36592" y="1307592"/>
            <a:ext cx="170901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stop_transcription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6445606" y="1307592"/>
            <a:ext cx="228691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Stop Deepgram stream, persist segments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4663440" y="1554480"/>
            <a:ext cx="406908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36592" y="1554480"/>
            <a:ext cx="170901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audio_chunk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6445606" y="1554480"/>
            <a:ext cx="228691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Binary audio chunk from host microphone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4663440" y="1801368"/>
            <a:ext cx="4069080" cy="228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36592" y="1801368"/>
            <a:ext cx="170901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transcription_started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6445606" y="1801368"/>
            <a:ext cx="228691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ACK sent to room when streaming begins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4663440" y="2048256"/>
            <a:ext cx="406908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36592" y="2048256"/>
            <a:ext cx="170901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transcription_stopped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6445606" y="2048256"/>
            <a:ext cx="228691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Broadcast when transcription ends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4663440" y="2295144"/>
            <a:ext cx="4069080" cy="228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36592" y="2295144"/>
            <a:ext cx="170901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transcription_error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6445606" y="2295144"/>
            <a:ext cx="228691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Error notification to room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4663440" y="2542032"/>
            <a:ext cx="406908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36592" y="2542032"/>
            <a:ext cx="170901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new_transcript_segment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6445606" y="2542032"/>
            <a:ext cx="228691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Live segment broadcast to room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4663440" y="3246120"/>
            <a:ext cx="4069080" cy="2834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4663440" y="3246120"/>
            <a:ext cx="4069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Chat, Agenda &amp; Notifications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4663440" y="3529584"/>
            <a:ext cx="406908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736592" y="3529584"/>
            <a:ext cx="170901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send_chat_message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6445606" y="3529584"/>
            <a:ext cx="228691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Send chat message, persist + broadcast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4663440" y="3776472"/>
            <a:ext cx="4069080" cy="228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736592" y="3776472"/>
            <a:ext cx="170901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chat_message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6445606" y="3776472"/>
            <a:ext cx="228691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New message broadcast to room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4663440" y="4023360"/>
            <a:ext cx="406908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736592" y="4023360"/>
            <a:ext cx="170901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pin_chat_message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6445606" y="4023360"/>
            <a:ext cx="228691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Pin a message (host only)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4663440" y="4270248"/>
            <a:ext cx="4069080" cy="228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736592" y="4270248"/>
            <a:ext cx="170901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unpin_chat_message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6445606" y="4270248"/>
            <a:ext cx="228691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Remove pinned message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4663440" y="4517136"/>
            <a:ext cx="406908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736592" y="4517136"/>
            <a:ext cx="170901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agenda_action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6445606" y="4517136"/>
            <a:ext cx="228691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Update agenda item (start/complete/skip)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4663440" y="4764024"/>
            <a:ext cx="4069080" cy="228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736592" y="4764024"/>
            <a:ext cx="170901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agenda_updated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6445606" y="4764024"/>
            <a:ext cx="228691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Broadcast updated agenda to room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4663440" y="5010912"/>
            <a:ext cx="406908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736592" y="5010912"/>
            <a:ext cx="170901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notification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6445606" y="5010912"/>
            <a:ext cx="228691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Personal real-time notification to user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</a:rPr>
              <a:t>Client Pages &amp; Routing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832104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777240"/>
            <a:ext cx="8321040" cy="3200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77724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BrowserRouter  (basename: /mcms in production)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2011680" cy="274320"/>
          </a:xfrm>
          <a:prstGeom prst="rect">
            <a:avLst/>
          </a:prstGeom>
          <a:solidFill>
            <a:srgbClr val="FFE4E6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43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11D48"/>
                </a:solidFill>
              </a:rPr>
              <a:t>Public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1480" y="1444752"/>
            <a:ext cx="201168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444752"/>
            <a:ext cx="1828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/login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11480" y="1719072"/>
            <a:ext cx="201168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719072"/>
            <a:ext cx="1828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/signup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11480" y="1993392"/>
            <a:ext cx="201168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993392"/>
            <a:ext cx="1828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/attendance (QR check-in)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560320" y="1143000"/>
            <a:ext cx="6172200" cy="274320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0" y="1143000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Protected  (RequireAuth → DashboardLayout)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560320" y="1444752"/>
            <a:ext cx="617220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51760" y="1444752"/>
            <a:ext cx="2011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4663440" y="1444752"/>
            <a:ext cx="1554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E293B"/>
                </a:solidFill>
              </a:rPr>
              <a:t>DashboardPage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6217920" y="1444752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Upcoming meetings + productivity stats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2560320" y="1709928"/>
            <a:ext cx="6172200" cy="2468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51760" y="1709928"/>
            <a:ext cx="2011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/tasks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4663440" y="1709928"/>
            <a:ext cx="1554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E293B"/>
                </a:solidFill>
              </a:rPr>
              <a:t>TasksPage</a:t>
            </a:r>
            <a:endParaRPr lang="en-US" sz="780" dirty="0"/>
          </a:p>
        </p:txBody>
      </p:sp>
      <p:sp>
        <p:nvSpPr>
          <p:cNvPr id="23" name="Text 21"/>
          <p:cNvSpPr/>
          <p:nvPr/>
        </p:nvSpPr>
        <p:spPr>
          <a:xfrm>
            <a:off x="6217920" y="1709928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My tasks — table &amp; kanban views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2560320" y="1975104"/>
            <a:ext cx="617220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51760" y="1975104"/>
            <a:ext cx="2011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/meeting</a:t>
            </a:r>
            <a:endParaRPr lang="en-US" sz="780" dirty="0"/>
          </a:p>
        </p:txBody>
      </p:sp>
      <p:sp>
        <p:nvSpPr>
          <p:cNvPr id="26" name="Text 24"/>
          <p:cNvSpPr/>
          <p:nvPr/>
        </p:nvSpPr>
        <p:spPr>
          <a:xfrm>
            <a:off x="4663440" y="1975104"/>
            <a:ext cx="1554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E293B"/>
                </a:solidFill>
              </a:rPr>
              <a:t>LiveMeetingPage</a:t>
            </a:r>
            <a:endParaRPr lang="en-US" sz="780" dirty="0"/>
          </a:p>
        </p:txBody>
      </p:sp>
      <p:sp>
        <p:nvSpPr>
          <p:cNvPr id="27" name="Text 25"/>
          <p:cNvSpPr/>
          <p:nvPr/>
        </p:nvSpPr>
        <p:spPr>
          <a:xfrm>
            <a:off x="6217920" y="1975104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Active meeting (no id = default)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2560320" y="2240280"/>
            <a:ext cx="6172200" cy="2468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651760" y="2240280"/>
            <a:ext cx="2011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/meetings/:id</a:t>
            </a:r>
            <a:endParaRPr lang="en-US" sz="780" dirty="0"/>
          </a:p>
        </p:txBody>
      </p:sp>
      <p:sp>
        <p:nvSpPr>
          <p:cNvPr id="30" name="Text 28"/>
          <p:cNvSpPr/>
          <p:nvPr/>
        </p:nvSpPr>
        <p:spPr>
          <a:xfrm>
            <a:off x="4663440" y="2240280"/>
            <a:ext cx="1554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E293B"/>
                </a:solidFill>
              </a:rPr>
              <a:t>LiveMeetingPage</a:t>
            </a:r>
            <a:endParaRPr lang="en-US" sz="780" dirty="0"/>
          </a:p>
        </p:txBody>
      </p:sp>
      <p:sp>
        <p:nvSpPr>
          <p:cNvPr id="31" name="Text 29"/>
          <p:cNvSpPr/>
          <p:nvPr/>
        </p:nvSpPr>
        <p:spPr>
          <a:xfrm>
            <a:off x="6217920" y="2240280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Live meeting by slug or Mongo id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2560320" y="2505456"/>
            <a:ext cx="617220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51760" y="2505456"/>
            <a:ext cx="2011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/rooms/:roomId</a:t>
            </a:r>
            <a:endParaRPr lang="en-US" sz="780" dirty="0"/>
          </a:p>
        </p:txBody>
      </p:sp>
      <p:sp>
        <p:nvSpPr>
          <p:cNvPr id="34" name="Text 32"/>
          <p:cNvSpPr/>
          <p:nvPr/>
        </p:nvSpPr>
        <p:spPr>
          <a:xfrm>
            <a:off x="4663440" y="2505456"/>
            <a:ext cx="1554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E293B"/>
                </a:solidFill>
              </a:rPr>
              <a:t>LiveMeetingPage</a:t>
            </a:r>
            <a:endParaRPr lang="en-US" sz="780" dirty="0"/>
          </a:p>
        </p:txBody>
      </p:sp>
      <p:sp>
        <p:nvSpPr>
          <p:cNvPr id="35" name="Text 33"/>
          <p:cNvSpPr/>
          <p:nvPr/>
        </p:nvSpPr>
        <p:spPr>
          <a:xfrm>
            <a:off x="6217920" y="2505456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Personal meeting room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2560320" y="2770632"/>
            <a:ext cx="6172200" cy="2468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651760" y="2770632"/>
            <a:ext cx="2011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/scheduled</a:t>
            </a:r>
            <a:endParaRPr lang="en-US" sz="780" dirty="0"/>
          </a:p>
        </p:txBody>
      </p:sp>
      <p:sp>
        <p:nvSpPr>
          <p:cNvPr id="38" name="Text 36"/>
          <p:cNvSpPr/>
          <p:nvPr/>
        </p:nvSpPr>
        <p:spPr>
          <a:xfrm>
            <a:off x="4663440" y="2770632"/>
            <a:ext cx="1554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E293B"/>
                </a:solidFill>
              </a:rPr>
              <a:t>ScheduledMeetings</a:t>
            </a:r>
            <a:endParaRPr lang="en-US" sz="780" dirty="0"/>
          </a:p>
        </p:txBody>
      </p:sp>
      <p:sp>
        <p:nvSpPr>
          <p:cNvPr id="39" name="Text 37"/>
          <p:cNvSpPr/>
          <p:nvPr/>
        </p:nvSpPr>
        <p:spPr>
          <a:xfrm>
            <a:off x="6217920" y="2770632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Calendar-style scheduled meetings list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2560320" y="3035808"/>
            <a:ext cx="617220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651760" y="3035808"/>
            <a:ext cx="2011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/archives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4663440" y="3035808"/>
            <a:ext cx="1554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E293B"/>
                </a:solidFill>
              </a:rPr>
              <a:t>ArchivesPage</a:t>
            </a:r>
            <a:endParaRPr lang="en-US" sz="780" dirty="0"/>
          </a:p>
        </p:txBody>
      </p:sp>
      <p:sp>
        <p:nvSpPr>
          <p:cNvPr id="43" name="Text 41"/>
          <p:cNvSpPr/>
          <p:nvPr/>
        </p:nvSpPr>
        <p:spPr>
          <a:xfrm>
            <a:off x="6217920" y="3035808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Completed meeting archive list + filters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2560320" y="3300984"/>
            <a:ext cx="6172200" cy="2468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51760" y="3300984"/>
            <a:ext cx="2011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/archives/:id</a:t>
            </a:r>
            <a:endParaRPr lang="en-US" sz="780" dirty="0"/>
          </a:p>
        </p:txBody>
      </p:sp>
      <p:sp>
        <p:nvSpPr>
          <p:cNvPr id="46" name="Text 44"/>
          <p:cNvSpPr/>
          <p:nvPr/>
        </p:nvSpPr>
        <p:spPr>
          <a:xfrm>
            <a:off x="4663440" y="3300984"/>
            <a:ext cx="1554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E293B"/>
                </a:solidFill>
              </a:rPr>
              <a:t>ArchiveDetailPage</a:t>
            </a:r>
            <a:endParaRPr lang="en-US" sz="780" dirty="0"/>
          </a:p>
        </p:txBody>
      </p:sp>
      <p:sp>
        <p:nvSpPr>
          <p:cNvPr id="47" name="Text 45"/>
          <p:cNvSpPr/>
          <p:nvPr/>
        </p:nvSpPr>
        <p:spPr>
          <a:xfrm>
            <a:off x="6217920" y="3300984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Full archive: transcript, tasks, summary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2560320" y="3566160"/>
            <a:ext cx="617220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651760" y="3566160"/>
            <a:ext cx="2011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/settings</a:t>
            </a:r>
            <a:endParaRPr lang="en-US" sz="780" dirty="0"/>
          </a:p>
        </p:txBody>
      </p:sp>
      <p:sp>
        <p:nvSpPr>
          <p:cNvPr id="50" name="Text 48"/>
          <p:cNvSpPr/>
          <p:nvPr/>
        </p:nvSpPr>
        <p:spPr>
          <a:xfrm>
            <a:off x="4663440" y="3566160"/>
            <a:ext cx="1554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E293B"/>
                </a:solidFill>
              </a:rPr>
              <a:t>SettingsPage</a:t>
            </a:r>
            <a:endParaRPr lang="en-US" sz="780" dirty="0"/>
          </a:p>
        </p:txBody>
      </p:sp>
      <p:sp>
        <p:nvSpPr>
          <p:cNvPr id="51" name="Text 49"/>
          <p:cNvSpPr/>
          <p:nvPr/>
        </p:nvSpPr>
        <p:spPr>
          <a:xfrm>
            <a:off x="6217920" y="3566160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Profile + account settings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2560320" y="3831336"/>
            <a:ext cx="6172200" cy="2468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651760" y="3831336"/>
            <a:ext cx="2011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/preferences</a:t>
            </a:r>
            <a:endParaRPr lang="en-US" sz="780" dirty="0"/>
          </a:p>
        </p:txBody>
      </p:sp>
      <p:sp>
        <p:nvSpPr>
          <p:cNvPr id="54" name="Text 52"/>
          <p:cNvSpPr/>
          <p:nvPr/>
        </p:nvSpPr>
        <p:spPr>
          <a:xfrm>
            <a:off x="4663440" y="3831336"/>
            <a:ext cx="1554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E293B"/>
                </a:solidFill>
              </a:rPr>
              <a:t>PreferencesPage</a:t>
            </a:r>
            <a:endParaRPr lang="en-US" sz="780" dirty="0"/>
          </a:p>
        </p:txBody>
      </p:sp>
      <p:sp>
        <p:nvSpPr>
          <p:cNvPr id="55" name="Text 53"/>
          <p:cNvSpPr/>
          <p:nvPr/>
        </p:nvSpPr>
        <p:spPr>
          <a:xfrm>
            <a:off x="6217920" y="3831336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Theme + app preferences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2560320" y="4096512"/>
            <a:ext cx="617220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651760" y="4096512"/>
            <a:ext cx="2011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endParaRPr lang="en-US" sz="780" dirty="0"/>
          </a:p>
        </p:txBody>
      </p:sp>
      <p:sp>
        <p:nvSpPr>
          <p:cNvPr id="58" name="Text 56"/>
          <p:cNvSpPr/>
          <p:nvPr/>
        </p:nvSpPr>
        <p:spPr>
          <a:xfrm>
            <a:off x="4663440" y="4096512"/>
            <a:ext cx="1554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E293B"/>
                </a:solidFill>
              </a:rPr>
              <a:t>NotFoundPage</a:t>
            </a:r>
            <a:endParaRPr lang="en-US" sz="780" dirty="0"/>
          </a:p>
        </p:txBody>
      </p:sp>
      <p:sp>
        <p:nvSpPr>
          <p:cNvPr id="59" name="Text 57"/>
          <p:cNvSpPr/>
          <p:nvPr/>
        </p:nvSpPr>
        <p:spPr>
          <a:xfrm>
            <a:off x="6217920" y="4096512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404 catch-all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411480" y="2286000"/>
            <a:ext cx="201168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411480" y="2286000"/>
            <a:ext cx="2011680" cy="27432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11480" y="2286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Auth Flow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502920" y="260604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· JWT stored in AuthContext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502920" y="291693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· Bearer token on all API calls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502920" y="322783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· Socket auth via token on connect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502920" y="353872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· Protected routes redirect to /login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502920" y="384962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· PublicOnly redirects authed users away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</a:rPr>
              <a:t>Live Meeting Page — Core Components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832104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777240"/>
            <a:ext cx="83210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777240"/>
            <a:ext cx="8321040" cy="30175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868680"/>
            <a:ext cx="5303520" cy="2651760"/>
          </a:xfrm>
          <a:prstGeom prst="rect">
            <a:avLst/>
          </a:prstGeom>
          <a:solidFill>
            <a:srgbClr val="1E2744"/>
          </a:solidFill>
          <a:ln w="12700">
            <a:solidFill>
              <a:srgbClr val="2D3E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8686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VideoArea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118872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3C5FD"/>
                </a:solidFill>
              </a:rPr>
              <a:t>WebRTC peer grid · Local video · Screen share preview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3C5FD"/>
                </a:solidFill>
              </a:rPr>
              <a:t>Focus mode · Jitsi embed · Recording state indicator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02920" y="2834640"/>
            <a:ext cx="5303520" cy="502920"/>
          </a:xfrm>
          <a:prstGeom prst="rect">
            <a:avLst/>
          </a:prstGeom>
          <a:solidFill>
            <a:srgbClr val="162235"/>
          </a:solidFill>
          <a:ln w="12700">
            <a:solidFill>
              <a:srgbClr val="2D3E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83464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3C5FD"/>
                </a:solidFill>
              </a:rPr>
              <a:t>HostControls — Mute / Camera / Screen Share / Transcribe / Attendance / Chat / Participants / Copy Link / End / Leave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5897880" y="868680"/>
            <a:ext cx="274320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97880" y="868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MeetingDock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989320" y="1188720"/>
            <a:ext cx="2560320" cy="411480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89320" y="1188720"/>
            <a:ext cx="292608" cy="4114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89320" y="1188720"/>
            <a:ext cx="292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G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327648" y="11887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Agenda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989320" y="1664208"/>
            <a:ext cx="2560320" cy="411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89320" y="1664208"/>
            <a:ext cx="292608" cy="411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89320" y="1664208"/>
            <a:ext cx="292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H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327648" y="166420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Chat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989320" y="2139696"/>
            <a:ext cx="2560320" cy="411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89320" y="2139696"/>
            <a:ext cx="292608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89320" y="2139696"/>
            <a:ext cx="292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327648" y="2139696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Transcript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989320" y="2615184"/>
            <a:ext cx="2560320" cy="411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89320" y="2615184"/>
            <a:ext cx="292608" cy="4114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89320" y="2615184"/>
            <a:ext cx="292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I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327648" y="2615184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Minutes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989320" y="3090672"/>
            <a:ext cx="2560320" cy="411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89320" y="3090672"/>
            <a:ext cx="292608" cy="41148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89320" y="3090672"/>
            <a:ext cx="292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K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327648" y="3090672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Tasks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11480" y="3913632"/>
            <a:ext cx="25603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11480" y="3913632"/>
            <a:ext cx="256032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39136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WebRTC (useWebRTC)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02920" y="4187952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Peer mesh · ICE/SDP signalling · Audio/video tracks · Screen capture with system audio · Dynamic grid layout algorithm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063240" y="3913632"/>
            <a:ext cx="25603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063240" y="3913632"/>
            <a:ext cx="2560320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63240" y="39136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Transcription (useTranscriptCapture)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154680" y="4187952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Audio capture from host mic · Binary chunks via socket · Deepgram streaming · Live segment display in Transcript panel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5715000" y="3913632"/>
            <a:ext cx="25603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715000" y="3913632"/>
            <a:ext cx="256032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715000" y="39136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Keyboard Shortcuts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806440" y="4187952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M=mute  C=camera  R=record  A=agenda  G/H/T/I/K=panels  Cmd+]=dock  Cmd+Shift+L=leave  Cmd+Shift+E=end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</a:rPr>
              <a:t>Archive &amp; Dashboard Features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832104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804672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804672"/>
            <a:ext cx="4114800" cy="3017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04672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Archive List (ArchivesPage)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115214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· </a:t>
            </a:r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Filter by modality, date range, tags, people, status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" y="143103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· </a:t>
            </a:r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Full-text search across meeting titles &amp; transcripts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170992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· </a:t>
            </a:r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Client + server-side search modes (≥5 meetings = server)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02920" y="19888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· </a:t>
            </a:r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Sort by date / title / modality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02920" y="226771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· </a:t>
            </a:r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Paginated results with loading states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617720" y="804672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17720" y="804672"/>
            <a:ext cx="4114800" cy="3017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804672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Archive Detail (ArchiveDetailView)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709160" y="115214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9669"/>
                </a:solidFill>
              </a:rPr>
              <a:t>· </a:t>
            </a:r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Full transcript with speaker filter &amp; content search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709160" y="143103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9669"/>
                </a:solidFill>
              </a:rPr>
              <a:t>· </a:t>
            </a:r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Server-side transcript-query for large meetings (&gt;200 segs)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709160" y="170992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9669"/>
                </a:solidFill>
              </a:rPr>
              <a:t>· </a:t>
            </a:r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AI-generated agenda summaries per item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709160" y="19888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9669"/>
                </a:solidFill>
              </a:rPr>
              <a:t>· </a:t>
            </a:r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AI full meeting summary (tone, outcomes, next steps)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709160" y="226771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9669"/>
                </a:solidFill>
              </a:rPr>
              <a:t>· </a:t>
            </a:r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Task table: status, category, assignees with inline edit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709160" y="254660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9669"/>
                </a:solidFill>
              </a:rPr>
              <a:t>· </a:t>
            </a:r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Attendance report, resource pins, meeting notes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709160" y="282549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9669"/>
                </a:solidFill>
              </a:rPr>
              <a:t>· </a:t>
            </a:r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Tag management with colour coding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709160" y="310438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9669"/>
                </a:solidFill>
              </a:rPr>
              <a:t>· </a:t>
            </a:r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Speaker analytics: talk-time chart per participant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11480" y="274320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11480" y="2743200"/>
            <a:ext cx="4114800" cy="3017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2743200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Dashboard (DashboardPage)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02920" y="309067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3AED"/>
                </a:solidFill>
              </a:rPr>
              <a:t>· </a:t>
            </a:r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Upcoming meetings grouped by date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02920" y="336956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3AED"/>
                </a:solidFill>
              </a:rPr>
              <a:t>· </a:t>
            </a:r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Meeting creation modal (polls, direct schedule, offline)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02920" y="364845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3AED"/>
                </a:solidFill>
              </a:rPr>
              <a:t>· </a:t>
            </a:r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Productivity stats: tasks done, meetings hosted/attended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02920" y="392734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3AED"/>
                </a:solidFill>
              </a:rPr>
              <a:t>· </a:t>
            </a:r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Quick-access to personal meeting room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02920" y="42062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3AED"/>
                </a:solidFill>
              </a:rPr>
              <a:t>· </a:t>
            </a:r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Pinned archive shortcuts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617720" y="274320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17720" y="2743200"/>
            <a:ext cx="4114800" cy="3017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17720" y="2743200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My Tasks (TasksPage)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709160" y="309067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7706"/>
                </a:solidFill>
              </a:rPr>
              <a:t>· </a:t>
            </a:r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Table view (MyTasksTaskTable) — sortable, filterable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709160" y="336956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7706"/>
                </a:solidFill>
              </a:rPr>
              <a:t>· </a:t>
            </a:r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Kanban view (MyTasksKanban) — drag columns by status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709160" y="364845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7706"/>
                </a:solidFill>
              </a:rPr>
              <a:t>· </a:t>
            </a:r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Shortcut T=table, K=kanban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709160" y="392734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7706"/>
                </a:solidFill>
              </a:rPr>
              <a:t>· </a:t>
            </a:r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Submit completion with note → verified / rejected flow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709160" y="42062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7706"/>
                </a:solidFill>
              </a:rPr>
              <a:t>· </a:t>
            </a:r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Task feedback modal with host response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709160" y="448513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7706"/>
                </a:solidFill>
              </a:rPr>
              <a:t>· </a:t>
            </a:r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Filter: mine / all, status, category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11480" y="4645152"/>
            <a:ext cx="8321040" cy="36576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02920" y="464515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Notification System: 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1965960" y="4645152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3C5FD"/>
                </a:solidFill>
              </a:rPr>
              <a:t>14 notification types (poll_invite, meeting_confirmed, meeting_invite, task_assigned, task_verified, task_rejected, meeting_summary_ready…)  ·  Socket.io real-time delivery  ·  Browser push notifications (Web Notifications API)  ·  Mark read / mark all read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</a:rPr>
              <a:t>AI Integration &amp; Keyboard Shortcuts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832104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804672"/>
            <a:ext cx="502920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804672"/>
            <a:ext cx="5029200" cy="3017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04672"/>
            <a:ext cx="5029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AI Service Integration  (aiService.ts + Deepgram)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143000"/>
            <a:ext cx="48463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143000"/>
            <a:ext cx="1737360" cy="42062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14300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/summarize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331720" y="1143000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Per-agenda-item transcript summary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1618488"/>
            <a:ext cx="48463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1618488"/>
            <a:ext cx="1737360" cy="42062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61848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/extract-actions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331720" y="1618488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Extract tasks from transcript text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2920" y="2093976"/>
            <a:ext cx="48463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2093976"/>
            <a:ext cx="1737360" cy="42062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093976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/meeting-summary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331720" y="2093976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Full meeting summary: tone, outcomes, next steps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" y="2633472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Deepgram Live Transcription (deepgramStream.ts)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94360" y="2889504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· WebSocket connection to Deepgram API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94360" y="3099816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· Binary audio chunks streamed from host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94360" y="3310128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· Live transcript segments saved + broadcast to room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94360" y="3520440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· Aggregation service merges overlapping segments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532120" y="804672"/>
            <a:ext cx="32004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532120" y="804672"/>
            <a:ext cx="3200400" cy="3017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32120" y="804672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Keyboard Shortcuts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596128" y="1161288"/>
            <a:ext cx="3063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</a:rPr>
              <a:t>Global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596128" y="1380744"/>
            <a:ext cx="3063240" cy="201168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596128" y="1380744"/>
            <a:ext cx="640080" cy="2011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96128" y="138074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⌘K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263640" y="1380744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Search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596128" y="1591056"/>
            <a:ext cx="3063240" cy="201168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596128" y="1591056"/>
            <a:ext cx="640080" cy="2011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96128" y="159105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⌘B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263640" y="1591056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Sidebar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5596128" y="1801368"/>
            <a:ext cx="3063240" cy="201168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596128" y="1801368"/>
            <a:ext cx="640080" cy="2011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96128" y="18013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6263640" y="180136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Notifications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5596128" y="2011680"/>
            <a:ext cx="3063240" cy="201168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596128" y="2011680"/>
            <a:ext cx="640080" cy="2011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596128" y="20116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6263640" y="201168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Theme toggle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5596128" y="2221992"/>
            <a:ext cx="3063240" cy="201168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596128" y="2221992"/>
            <a:ext cx="640080" cy="2011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96128" y="222199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6263640" y="2221992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Fullscreen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5596128" y="2432304"/>
            <a:ext cx="3063240" cy="201168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596128" y="2432304"/>
            <a:ext cx="640080" cy="2011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596128" y="243230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⇧M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6263640" y="2432304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New meeting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5596128" y="2715768"/>
            <a:ext cx="3063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</a:rPr>
              <a:t>Live Meeting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5596128" y="2935224"/>
            <a:ext cx="3063240" cy="201168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596128" y="2935224"/>
            <a:ext cx="640080" cy="2011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596128" y="293522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6263640" y="2935224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Mute / Unmute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5596128" y="3145536"/>
            <a:ext cx="3063240" cy="201168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596128" y="3145536"/>
            <a:ext cx="640080" cy="2011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596128" y="314553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6263640" y="3145536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Camera on/off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5596128" y="3355848"/>
            <a:ext cx="3063240" cy="201168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596128" y="3355848"/>
            <a:ext cx="640080" cy="2011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596128" y="335584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6263640" y="335584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Start recording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5596128" y="3566160"/>
            <a:ext cx="3063240" cy="201168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596128" y="3566160"/>
            <a:ext cx="640080" cy="2011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596128" y="356616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6263640" y="356616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Add agenda item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5596128" y="3776472"/>
            <a:ext cx="3063240" cy="201168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596128" y="3776472"/>
            <a:ext cx="640080" cy="2011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596128" y="377647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⇧A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6263640" y="3776472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Add task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5596128" y="3986784"/>
            <a:ext cx="3063240" cy="201168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5596128" y="3986784"/>
            <a:ext cx="640080" cy="2011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596128" y="398678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6263640" y="3986784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Agenda panel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5596128" y="4197096"/>
            <a:ext cx="3063240" cy="201168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596128" y="4197096"/>
            <a:ext cx="640080" cy="2011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596128" y="419709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6263640" y="4197096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Chat panel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5596128" y="4407408"/>
            <a:ext cx="3063240" cy="201168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596128" y="4407408"/>
            <a:ext cx="640080" cy="2011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596128" y="440740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750" dirty="0"/>
          </a:p>
        </p:txBody>
      </p:sp>
      <p:sp>
        <p:nvSpPr>
          <p:cNvPr id="84" name="Text 82"/>
          <p:cNvSpPr/>
          <p:nvPr/>
        </p:nvSpPr>
        <p:spPr>
          <a:xfrm>
            <a:off x="6263640" y="440740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Transcript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5596128" y="4617720"/>
            <a:ext cx="3063240" cy="201168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596128" y="4617720"/>
            <a:ext cx="640080" cy="2011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596128" y="46177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endParaRPr lang="en-US" sz="750" dirty="0"/>
          </a:p>
        </p:txBody>
      </p:sp>
      <p:sp>
        <p:nvSpPr>
          <p:cNvPr id="88" name="Text 86"/>
          <p:cNvSpPr/>
          <p:nvPr/>
        </p:nvSpPr>
        <p:spPr>
          <a:xfrm>
            <a:off x="6263640" y="461772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Minutes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5596128" y="4828032"/>
            <a:ext cx="3063240" cy="201168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5596128" y="4828032"/>
            <a:ext cx="640080" cy="2011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596128" y="482803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</a:t>
            </a:r>
            <a:endParaRPr lang="en-US" sz="750" dirty="0"/>
          </a:p>
        </p:txBody>
      </p:sp>
      <p:sp>
        <p:nvSpPr>
          <p:cNvPr id="92" name="Text 90"/>
          <p:cNvSpPr/>
          <p:nvPr/>
        </p:nvSpPr>
        <p:spPr>
          <a:xfrm>
            <a:off x="6263640" y="4828032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Tasks panel</a:t>
            </a:r>
            <a:endParaRPr lang="en-US" sz="750" dirty="0"/>
          </a:p>
        </p:txBody>
      </p:sp>
      <p:sp>
        <p:nvSpPr>
          <p:cNvPr id="93" name="Shape 91"/>
          <p:cNvSpPr/>
          <p:nvPr/>
        </p:nvSpPr>
        <p:spPr>
          <a:xfrm>
            <a:off x="5596128" y="5038344"/>
            <a:ext cx="3063240" cy="201168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5596128" y="5038344"/>
            <a:ext cx="640080" cy="2011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5596128" y="503834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⌘]</a:t>
            </a:r>
            <a:endParaRPr lang="en-US" sz="750" dirty="0"/>
          </a:p>
        </p:txBody>
      </p:sp>
      <p:sp>
        <p:nvSpPr>
          <p:cNvPr id="96" name="Text 94"/>
          <p:cNvSpPr/>
          <p:nvPr/>
        </p:nvSpPr>
        <p:spPr>
          <a:xfrm>
            <a:off x="6263640" y="5038344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Toggle dock</a:t>
            </a:r>
            <a:endParaRPr lang="en-US" sz="750" dirty="0"/>
          </a:p>
        </p:txBody>
      </p:sp>
      <p:sp>
        <p:nvSpPr>
          <p:cNvPr id="97" name="Shape 95"/>
          <p:cNvSpPr/>
          <p:nvPr/>
        </p:nvSpPr>
        <p:spPr>
          <a:xfrm>
            <a:off x="5596128" y="5248656"/>
            <a:ext cx="3063240" cy="201168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5596128" y="5248656"/>
            <a:ext cx="640080" cy="2011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5596128" y="524865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⌘⇧L</a:t>
            </a:r>
            <a:endParaRPr lang="en-US" sz="750" dirty="0"/>
          </a:p>
        </p:txBody>
      </p:sp>
      <p:sp>
        <p:nvSpPr>
          <p:cNvPr id="100" name="Text 98"/>
          <p:cNvSpPr/>
          <p:nvPr/>
        </p:nvSpPr>
        <p:spPr>
          <a:xfrm>
            <a:off x="6263640" y="5248656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Leave</a:t>
            </a:r>
            <a:endParaRPr lang="en-US" sz="750" dirty="0"/>
          </a:p>
        </p:txBody>
      </p:sp>
      <p:sp>
        <p:nvSpPr>
          <p:cNvPr id="101" name="Shape 99"/>
          <p:cNvSpPr/>
          <p:nvPr/>
        </p:nvSpPr>
        <p:spPr>
          <a:xfrm>
            <a:off x="5596128" y="5458968"/>
            <a:ext cx="3063240" cy="201168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5596128" y="5458968"/>
            <a:ext cx="640080" cy="2011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5596128" y="54589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⌘⇧E</a:t>
            </a:r>
            <a:endParaRPr lang="en-US" sz="750" dirty="0"/>
          </a:p>
        </p:txBody>
      </p:sp>
      <p:sp>
        <p:nvSpPr>
          <p:cNvPr id="104" name="Text 102"/>
          <p:cNvSpPr/>
          <p:nvPr/>
        </p:nvSpPr>
        <p:spPr>
          <a:xfrm>
            <a:off x="6263640" y="545896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End meeting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</a:rPr>
              <a:t>Supporting Systems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832104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804672"/>
            <a:ext cx="4114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804672"/>
            <a:ext cx="4114800" cy="2834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04672"/>
            <a:ext cx="4114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Poll &amp; RSVP System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21208" y="1133856"/>
            <a:ext cx="391363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</a:rPr>
              <a:t>· Time-slot polls — host creates options, participants vote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521208" y="1417320"/>
            <a:ext cx="391363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</a:rPr>
              <a:t>· Confirmed slot triggers meeting_confirmed notifications</a:t>
            </a:r>
            <a:endParaRPr lang="en-US" sz="780" dirty="0"/>
          </a:p>
        </p:txBody>
      </p:sp>
      <p:sp>
        <p:nvSpPr>
          <p:cNvPr id="9" name="Text 7"/>
          <p:cNvSpPr/>
          <p:nvPr/>
        </p:nvSpPr>
        <p:spPr>
          <a:xfrm>
            <a:off x="521208" y="1700784"/>
            <a:ext cx="391363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</a:rPr>
              <a:t>· RSVP links sent via email with public token endpoint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521208" y="1984248"/>
            <a:ext cx="391363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</a:rPr>
              <a:t>· ICS calendar file generated on confirmation (icsGenerator.ts)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521208" y="2267712"/>
            <a:ext cx="391363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</a:rPr>
              <a:t>· Poll invitation notifications with voting CTA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4617720" y="804672"/>
            <a:ext cx="4114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17720" y="804672"/>
            <a:ext cx="4114800" cy="2834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804672"/>
            <a:ext cx="4114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Attendance &amp; Rubric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727448" y="1133856"/>
            <a:ext cx="391363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</a:rPr>
              <a:t>· QR code generated per meeting (qrcode lib)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4727448" y="1417320"/>
            <a:ext cx="391363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</a:rPr>
              <a:t>· Public /attendance endpoint — no auth needed to mark present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4727448" y="1700784"/>
            <a:ext cx="391363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</a:rPr>
              <a:t>· Host sees live attendance list + downloadable report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4727448" y="1984248"/>
            <a:ext cx="391363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</a:rPr>
              <a:t>· Rubric: custom evaluation criteria per meeting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4727448" y="2267712"/>
            <a:ext cx="391363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</a:rPr>
              <a:t>· Evaluations stored per user, aggregate report endpoint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4727448" y="2551176"/>
            <a:ext cx="391363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</a:rPr>
              <a:t>· rubric_score notification when scored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411480" y="2816352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1480" y="2816352"/>
            <a:ext cx="4114800" cy="2834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2816352"/>
            <a:ext cx="4114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Location &amp; Maps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21208" y="3145536"/>
            <a:ext cx="391363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</a:rPr>
              <a:t>· MapLibre GL + react-map-gl for interactive maps</a:t>
            </a:r>
            <a:endParaRPr lang="en-US" sz="780" dirty="0"/>
          </a:p>
        </p:txBody>
      </p:sp>
      <p:sp>
        <p:nvSpPr>
          <p:cNvPr id="25" name="Text 23"/>
          <p:cNvSpPr/>
          <p:nvPr/>
        </p:nvSpPr>
        <p:spPr>
          <a:xfrm>
            <a:off x="521208" y="3429000"/>
            <a:ext cx="391363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</a:rPr>
              <a:t>· Custom Flexoki-themed map style (mapStyle.ts)</a:t>
            </a:r>
            <a:endParaRPr lang="en-US" sz="780" dirty="0"/>
          </a:p>
        </p:txBody>
      </p:sp>
      <p:sp>
        <p:nvSpPr>
          <p:cNvPr id="26" name="Text 24"/>
          <p:cNvSpPr/>
          <p:nvPr/>
        </p:nvSpPr>
        <p:spPr>
          <a:xfrm>
            <a:off x="521208" y="3712464"/>
            <a:ext cx="391363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</a:rPr>
              <a:t>· Custom SVG map markers (mapMarker.tsx)</a:t>
            </a:r>
            <a:endParaRPr lang="en-US" sz="780" dirty="0"/>
          </a:p>
        </p:txBody>
      </p:sp>
      <p:sp>
        <p:nvSpPr>
          <p:cNvPr id="27" name="Text 25"/>
          <p:cNvSpPr/>
          <p:nvPr/>
        </p:nvSpPr>
        <p:spPr>
          <a:xfrm>
            <a:off x="521208" y="3995928"/>
            <a:ext cx="391363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</a:rPr>
              <a:t>· LocationMapModal in live meeting for offline meetings</a:t>
            </a:r>
            <a:endParaRPr lang="en-US" sz="780" dirty="0"/>
          </a:p>
        </p:txBody>
      </p:sp>
      <p:sp>
        <p:nvSpPr>
          <p:cNvPr id="28" name="Text 26"/>
          <p:cNvSpPr/>
          <p:nvPr/>
        </p:nvSpPr>
        <p:spPr>
          <a:xfrm>
            <a:off x="521208" y="4279392"/>
            <a:ext cx="391363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</a:rPr>
              <a:t>· Location field on meetings with geocoding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4617720" y="2816352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17720" y="2816352"/>
            <a:ext cx="4114800" cy="2834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17720" y="2816352"/>
            <a:ext cx="4114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Brief Generator &amp; Pins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727448" y="3145536"/>
            <a:ext cx="391363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</a:rPr>
              <a:t>· briefGenerator.ts — pre-meeting brief from agenda + notes</a:t>
            </a:r>
            <a:endParaRPr lang="en-US" sz="780" dirty="0"/>
          </a:p>
        </p:txBody>
      </p:sp>
      <p:sp>
        <p:nvSpPr>
          <p:cNvPr id="33" name="Text 31"/>
          <p:cNvSpPr/>
          <p:nvPr/>
        </p:nvSpPr>
        <p:spPr>
          <a:xfrm>
            <a:off x="4727448" y="3429000"/>
            <a:ext cx="391363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</a:rPr>
              <a:t>· brief_ready notification triggers when complete</a:t>
            </a:r>
            <a:endParaRPr lang="en-US" sz="780" dirty="0"/>
          </a:p>
        </p:txBody>
      </p:sp>
      <p:sp>
        <p:nvSpPr>
          <p:cNvPr id="34" name="Text 32"/>
          <p:cNvSpPr/>
          <p:nvPr/>
        </p:nvSpPr>
        <p:spPr>
          <a:xfrm>
            <a:off x="4727448" y="3712464"/>
            <a:ext cx="391363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</a:rPr>
              <a:t>· ResourcePin: bookmark URLs/docs to a meeting</a:t>
            </a:r>
            <a:endParaRPr lang="en-US" sz="780" dirty="0"/>
          </a:p>
        </p:txBody>
      </p:sp>
      <p:sp>
        <p:nvSpPr>
          <p:cNvPr id="35" name="Text 33"/>
          <p:cNvSpPr/>
          <p:nvPr/>
        </p:nvSpPr>
        <p:spPr>
          <a:xfrm>
            <a:off x="4727448" y="3995928"/>
            <a:ext cx="391363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</a:rPr>
              <a:t>· Pins displayed in live meeting dock and archive</a:t>
            </a:r>
            <a:endParaRPr lang="en-US" sz="780" dirty="0"/>
          </a:p>
        </p:txBody>
      </p:sp>
      <p:sp>
        <p:nvSpPr>
          <p:cNvPr id="36" name="Text 34"/>
          <p:cNvSpPr/>
          <p:nvPr/>
        </p:nvSpPr>
        <p:spPr>
          <a:xfrm>
            <a:off x="4727448" y="4279392"/>
            <a:ext cx="391363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</a:rPr>
              <a:t>· User profile stores pinned archive meetings list</a:t>
            </a:r>
            <a:endParaRPr lang="en-US" sz="780" dirty="0"/>
          </a:p>
        </p:txBody>
      </p:sp>
      <p:sp>
        <p:nvSpPr>
          <p:cNvPr id="37" name="Text 35"/>
          <p:cNvSpPr/>
          <p:nvPr/>
        </p:nvSpPr>
        <p:spPr>
          <a:xfrm>
            <a:off x="4727448" y="4562856"/>
            <a:ext cx="391363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</a:rPr>
              <a:t>· Avatar system: upload, serve, Flexoki-hued initials fallback</a:t>
            </a:r>
            <a:endParaRPr lang="en-US" sz="780" dirty="0"/>
          </a:p>
        </p:txBody>
      </p:sp>
      <p:sp>
        <p:nvSpPr>
          <p:cNvPr id="38" name="Shape 36"/>
          <p:cNvSpPr/>
          <p:nvPr/>
        </p:nvSpPr>
        <p:spPr>
          <a:xfrm>
            <a:off x="411480" y="4645152"/>
            <a:ext cx="83210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11480" y="4645152"/>
            <a:ext cx="8321040" cy="28346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" y="4645152"/>
            <a:ext cx="8321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Cache, Search &amp; Helpers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02920" y="4645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cache.ts: in-memory TTL cache for repeated AI calls  ·  searchHelpers.ts: sanitizeTextSearch + escapeRegex  ·  meetingInviteId: generates unique abcd-efgh slugs  ·  transcriptAggregation.ts: merges Deepgram partial segments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32520" y="0"/>
            <a:ext cx="41148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6576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By the Numbers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0" y="896112"/>
            <a:ext cx="27432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051560"/>
            <a:ext cx="1828800" cy="1371600"/>
          </a:xfrm>
          <a:prstGeom prst="rect">
            <a:avLst/>
          </a:prstGeom>
          <a:solidFill>
            <a:srgbClr val="162A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18872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17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94360" y="1874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API Route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Modules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651760" y="1051560"/>
            <a:ext cx="1828800" cy="1371600"/>
          </a:xfrm>
          <a:prstGeom prst="rect">
            <a:avLst/>
          </a:prstGeom>
          <a:solidFill>
            <a:srgbClr val="162A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51760" y="118872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40+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2651760" y="1874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REST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Endpoints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709160" y="1051560"/>
            <a:ext cx="1828800" cy="1371600"/>
          </a:xfrm>
          <a:prstGeom prst="rect">
            <a:avLst/>
          </a:prstGeom>
          <a:solidFill>
            <a:srgbClr val="162A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118872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16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4709160" y="1874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Socket.io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Events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766560" y="1051560"/>
            <a:ext cx="1828800" cy="1371600"/>
          </a:xfrm>
          <a:prstGeom prst="rect">
            <a:avLst/>
          </a:prstGeom>
          <a:solidFill>
            <a:srgbClr val="162A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118872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16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6766560" y="1874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MongoDB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Collections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560320"/>
            <a:ext cx="1828800" cy="1371600"/>
          </a:xfrm>
          <a:prstGeom prst="rect">
            <a:avLst/>
          </a:prstGeom>
          <a:solidFill>
            <a:srgbClr val="162A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269748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35+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594360" y="33832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React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Components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651760" y="2560320"/>
            <a:ext cx="1828800" cy="1371600"/>
          </a:xfrm>
          <a:prstGeom prst="rect">
            <a:avLst/>
          </a:prstGeom>
          <a:solidFill>
            <a:srgbClr val="162A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69748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7 200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2651760" y="33832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CSS Lines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(index.css)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709160" y="2560320"/>
            <a:ext cx="1828800" cy="1371600"/>
          </a:xfrm>
          <a:prstGeom prst="rect">
            <a:avLst/>
          </a:prstGeom>
          <a:solidFill>
            <a:srgbClr val="162A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269748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3</a:t>
            </a:r>
            <a:endParaRPr lang="en-US" sz="3800" dirty="0"/>
          </a:p>
        </p:txBody>
      </p:sp>
      <p:sp>
        <p:nvSpPr>
          <p:cNvPr id="26" name="Text 24"/>
          <p:cNvSpPr/>
          <p:nvPr/>
        </p:nvSpPr>
        <p:spPr>
          <a:xfrm>
            <a:off x="4709160" y="33832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AI Service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Endpoints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766560" y="2560320"/>
            <a:ext cx="1828800" cy="1371600"/>
          </a:xfrm>
          <a:prstGeom prst="rect">
            <a:avLst/>
          </a:prstGeom>
          <a:solidFill>
            <a:srgbClr val="162A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66560" y="269748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14</a:t>
            </a:r>
            <a:endParaRPr lang="en-US" sz="3800" dirty="0"/>
          </a:p>
        </p:txBody>
      </p:sp>
      <p:sp>
        <p:nvSpPr>
          <p:cNvPr id="29" name="Text 27"/>
          <p:cNvSpPr/>
          <p:nvPr/>
        </p:nvSpPr>
        <p:spPr>
          <a:xfrm>
            <a:off x="6766560" y="33832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Notification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Types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94360" y="425196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6A8A"/>
                </a:solidFill>
              </a:rPr>
              <a:t>Full-stack TypeScript · React + Node.js · MongoDB · Socket.io · WebRTC · Deepgram · AI-powered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Concord — Meeting Management System</dc:title>
  <dc:subject>PptxGenJS Presentation</dc:subject>
  <dc:creator>PptxGenJS</dc:creator>
  <cp:lastModifiedBy>PptxGenJS</cp:lastModifiedBy>
  <cp:revision>1</cp:revision>
  <dcterms:created xsi:type="dcterms:W3CDTF">2026-05-05T10:31:36Z</dcterms:created>
  <dcterms:modified xsi:type="dcterms:W3CDTF">2026-05-05T10:31:36Z</dcterms:modified>
</cp:coreProperties>
</file>